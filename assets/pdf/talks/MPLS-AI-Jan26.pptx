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15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89158"/>
  </p:normalViewPr>
  <p:slideViewPr>
    <p:cSldViewPr snapToGrid="0">
      <p:cViewPr>
        <p:scale>
          <a:sx n="94" d="100"/>
          <a:sy n="94" d="100"/>
        </p:scale>
        <p:origin x="256"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354C7-1106-914E-A9F1-4993523F92D2}" type="datetimeFigureOut">
              <a:rPr lang="en-US" smtClean="0"/>
              <a:t>1/10/26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B703BD-236D-194A-A741-C508FD21BBDA}" type="slidenum">
              <a:rPr lang="en-US" smtClean="0"/>
              <a:t>‹#›</a:t>
            </a:fld>
            <a:endParaRPr lang="en-US"/>
          </a:p>
        </p:txBody>
      </p:sp>
    </p:spTree>
    <p:extLst>
      <p:ext uri="{BB962C8B-B14F-4D97-AF65-F5344CB8AC3E}">
        <p14:creationId xmlns:p14="http://schemas.microsoft.com/office/powerpoint/2010/main" val="1182108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1</a:t>
            </a:fld>
            <a:endParaRPr lang="en-US"/>
          </a:p>
        </p:txBody>
      </p:sp>
    </p:spTree>
    <p:extLst>
      <p:ext uri="{BB962C8B-B14F-4D97-AF65-F5344CB8AC3E}">
        <p14:creationId xmlns:p14="http://schemas.microsoft.com/office/powerpoint/2010/main" val="3523390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2</a:t>
            </a:fld>
            <a:endParaRPr lang="en-US"/>
          </a:p>
        </p:txBody>
      </p:sp>
    </p:spTree>
    <p:extLst>
      <p:ext uri="{BB962C8B-B14F-4D97-AF65-F5344CB8AC3E}">
        <p14:creationId xmlns:p14="http://schemas.microsoft.com/office/powerpoint/2010/main" val="3436680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3</a:t>
            </a:fld>
            <a:endParaRPr lang="en-US"/>
          </a:p>
        </p:txBody>
      </p:sp>
    </p:spTree>
    <p:extLst>
      <p:ext uri="{BB962C8B-B14F-4D97-AF65-F5344CB8AC3E}">
        <p14:creationId xmlns:p14="http://schemas.microsoft.com/office/powerpoint/2010/main" val="235885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4</a:t>
            </a:fld>
            <a:endParaRPr lang="en-US"/>
          </a:p>
        </p:txBody>
      </p:sp>
    </p:spTree>
    <p:extLst>
      <p:ext uri="{BB962C8B-B14F-4D97-AF65-F5344CB8AC3E}">
        <p14:creationId xmlns:p14="http://schemas.microsoft.com/office/powerpoint/2010/main" val="1786278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5</a:t>
            </a:fld>
            <a:endParaRPr lang="en-US"/>
          </a:p>
        </p:txBody>
      </p:sp>
    </p:spTree>
    <p:extLst>
      <p:ext uri="{BB962C8B-B14F-4D97-AF65-F5344CB8AC3E}">
        <p14:creationId xmlns:p14="http://schemas.microsoft.com/office/powerpoint/2010/main" val="3751810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6</a:t>
            </a:fld>
            <a:endParaRPr lang="en-US"/>
          </a:p>
        </p:txBody>
      </p:sp>
    </p:spTree>
    <p:extLst>
      <p:ext uri="{BB962C8B-B14F-4D97-AF65-F5344CB8AC3E}">
        <p14:creationId xmlns:p14="http://schemas.microsoft.com/office/powerpoint/2010/main" val="3415117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B703BD-236D-194A-A741-C508FD21BBDA}" type="slidenum">
              <a:rPr lang="en-US" smtClean="0"/>
              <a:t>7</a:t>
            </a:fld>
            <a:endParaRPr lang="en-US"/>
          </a:p>
        </p:txBody>
      </p:sp>
    </p:spTree>
    <p:extLst>
      <p:ext uri="{BB962C8B-B14F-4D97-AF65-F5344CB8AC3E}">
        <p14:creationId xmlns:p14="http://schemas.microsoft.com/office/powerpoint/2010/main" val="2533314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2186-FCFB-E312-EFC7-A5ABB6D0EC2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943A3B9-915F-0150-B900-101800B277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BD09D01-D7BC-7B10-1125-00F1A5C7D8A5}"/>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7662551B-16C4-B703-DCAB-65BD02417B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38367C-5950-D7DD-C50F-1BCCE1E63F17}"/>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2413077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AD58-60BE-D13E-188A-53C4EEE3E5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B0C7744-2EC6-1DCC-F581-D8A0FBD8536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3DAA698-BBD0-232D-A94B-67C82526AA3F}"/>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053ED330-3A45-4596-196B-B44316D92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A3952-8B47-FF68-0248-8B3FFC51940A}"/>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1355663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1DD6-C697-E525-A2ED-D4E3B0ADBFF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C6230B4-AF4B-EDAE-760B-87B12E2DB8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EFDDAA6-1B26-39E3-095F-E73B9726C431}"/>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B8023F27-71F8-D650-3C79-6BFB72A0A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CB35B-3C0F-EB79-4B74-BB5EBAAC910B}"/>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3498687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4C9D-3E66-70C8-D199-BA8DC7A56B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5972BD9-AF35-64CC-7E43-492419820EF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01DF7E3-C73A-0CE1-8617-B82E7616871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4416AE0-DC95-0F46-E787-005463152239}"/>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6" name="Footer Placeholder 5">
            <a:extLst>
              <a:ext uri="{FF2B5EF4-FFF2-40B4-BE49-F238E27FC236}">
                <a16:creationId xmlns:a16="http://schemas.microsoft.com/office/drawing/2014/main" id="{8D6865DE-2EE6-496A-A92E-F386F006E0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546F98-C0D6-DB31-ED56-FBEA179698B6}"/>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3910223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939D-61D1-9815-839B-8C9C5CDA1F7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B6DA36-4DF5-861B-2213-CA346FCA5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A842490-3211-E3C1-4558-D867AA72BA5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4AF06E0-3B55-B3C9-429D-B30BD3224B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F187DA-0B26-78AC-7F6E-513C99F8B72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FE02DDA-D753-E93D-C3EF-7F0AD487F972}"/>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8" name="Footer Placeholder 7">
            <a:extLst>
              <a:ext uri="{FF2B5EF4-FFF2-40B4-BE49-F238E27FC236}">
                <a16:creationId xmlns:a16="http://schemas.microsoft.com/office/drawing/2014/main" id="{5C544942-478B-FCD5-7294-5C6BFFF4CD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BE9883-5A8B-D263-E96E-54DB98AF4C6F}"/>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2312548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9C5E-B2B3-8F9A-F483-3D95A318E0C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6278979-09F2-8CD4-55C3-6FB0BA38048E}"/>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4" name="Footer Placeholder 3">
            <a:extLst>
              <a:ext uri="{FF2B5EF4-FFF2-40B4-BE49-F238E27FC236}">
                <a16:creationId xmlns:a16="http://schemas.microsoft.com/office/drawing/2014/main" id="{01C62E42-58B2-40CC-19E0-24F30E6517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6601C-E4E6-00A9-FC36-168EE3A8FCC3}"/>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1678147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FEA5B0-FBCE-9D78-CFD4-13F78D203B2B}"/>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3" name="Footer Placeholder 2">
            <a:extLst>
              <a:ext uri="{FF2B5EF4-FFF2-40B4-BE49-F238E27FC236}">
                <a16:creationId xmlns:a16="http://schemas.microsoft.com/office/drawing/2014/main" id="{841F2804-2A2D-5F99-6775-8701A08439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BF5270-5E24-9D39-7C5C-3B80ABE5898C}"/>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1321903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B068B-1C3C-36D7-1757-921ACBA0DE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4F7A04A-2882-1DDD-9FA6-AE6F44BF25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94C24B0-2343-DA7F-037C-73E88E316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F348F9-C798-E022-26B4-C4CDA9F940BB}"/>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6" name="Footer Placeholder 5">
            <a:extLst>
              <a:ext uri="{FF2B5EF4-FFF2-40B4-BE49-F238E27FC236}">
                <a16:creationId xmlns:a16="http://schemas.microsoft.com/office/drawing/2014/main" id="{CFE356E6-7246-D87B-E3FD-A56749CF9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E6718-83E1-64BD-5436-86E9F1151584}"/>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3467202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4861-547A-2A00-6BD0-6719E76D21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85FC917-7B7A-E7EF-1751-42C220DAF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816933-7B89-19E6-932B-B228156150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595C986-A17B-14EF-E813-C3566F34602B}"/>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6" name="Footer Placeholder 5">
            <a:extLst>
              <a:ext uri="{FF2B5EF4-FFF2-40B4-BE49-F238E27FC236}">
                <a16:creationId xmlns:a16="http://schemas.microsoft.com/office/drawing/2014/main" id="{BE842349-5624-7508-D20C-EE5E6467C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6F86E-8787-7769-21E9-A5746612B20C}"/>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3130314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DBDE-BE43-AD49-871A-FCB8BBB18D2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FFEBC47-E393-A334-BD52-336300F72F7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5EDEE70-0CE3-B070-6ED1-6039181ACF25}"/>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22C131F1-40AB-354B-9AB1-F15B48ECD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3D346-A62B-7B40-405E-FA33B4BA9239}"/>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2416357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D7B886-17A5-DE1A-9633-F2DCE91DCDD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CEAD656-F18A-578F-B083-BAA5E95167B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9445371-306A-7031-E795-9E16D59BED7D}"/>
              </a:ext>
            </a:extLst>
          </p:cNvPr>
          <p:cNvSpPr>
            <a:spLocks noGrp="1"/>
          </p:cNvSpPr>
          <p:nvPr>
            <p:ph type="dt" sz="half" idx="10"/>
          </p:nvPr>
        </p:nvSpPr>
        <p:spPr/>
        <p:txBody>
          <a:body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FE9DA029-0F3F-5B05-EC6A-7229BB3D8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8633A-2CE7-51A0-304C-FDA70B365374}"/>
              </a:ext>
            </a:extLst>
          </p:cNvPr>
          <p:cNvSpPr>
            <a:spLocks noGrp="1"/>
          </p:cNvSpPr>
          <p:nvPr>
            <p:ph type="sldNum" sz="quarter" idx="12"/>
          </p:nvPr>
        </p:nvSpPr>
        <p:spPr/>
        <p:txBody>
          <a:bodyPr/>
          <a:lstStyle/>
          <a:p>
            <a:fld id="{9BAFBF4B-5CCB-6442-B35A-3A2416E60773}" type="slidenum">
              <a:rPr lang="en-US" smtClean="0"/>
              <a:t>‹#›</a:t>
            </a:fld>
            <a:endParaRPr lang="en-US"/>
          </a:p>
        </p:txBody>
      </p:sp>
    </p:spTree>
    <p:extLst>
      <p:ext uri="{BB962C8B-B14F-4D97-AF65-F5344CB8AC3E}">
        <p14:creationId xmlns:p14="http://schemas.microsoft.com/office/powerpoint/2010/main" val="201218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10000"/>
            <a:lumOff val="90000"/>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21A2DE-4D0D-9D79-5FF5-397B85A4A1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09A3911-A0FC-EEE6-0509-36E5CD5C08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D0283E-DDE9-5407-C71B-BC5A0BF69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4E985C-B4C4-1D4D-89BA-68CC079155C9}" type="datetimeFigureOut">
              <a:rPr lang="en-US" smtClean="0"/>
              <a:t>1/10/26</a:t>
            </a:fld>
            <a:endParaRPr lang="en-US"/>
          </a:p>
        </p:txBody>
      </p:sp>
      <p:sp>
        <p:nvSpPr>
          <p:cNvPr id="5" name="Footer Placeholder 4">
            <a:extLst>
              <a:ext uri="{FF2B5EF4-FFF2-40B4-BE49-F238E27FC236}">
                <a16:creationId xmlns:a16="http://schemas.microsoft.com/office/drawing/2014/main" id="{5FAA7FB6-82EF-BCCD-13FD-840116815A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AF505F-EE00-CD3F-6EAF-9AA16F3A28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AFBF4B-5CCB-6442-B35A-3A2416E60773}" type="slidenum">
              <a:rPr lang="en-US" smtClean="0"/>
              <a:t>‹#›</a:t>
            </a:fld>
            <a:endParaRPr lang="en-US"/>
          </a:p>
        </p:txBody>
      </p:sp>
    </p:spTree>
    <p:extLst>
      <p:ext uri="{BB962C8B-B14F-4D97-AF65-F5344CB8AC3E}">
        <p14:creationId xmlns:p14="http://schemas.microsoft.com/office/powerpoint/2010/main" val="2045995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6545AC-FA3C-A0BE-B904-3C7FB7AE0CA6}"/>
              </a:ext>
            </a:extLst>
          </p:cNvPr>
          <p:cNvPicPr>
            <a:picLocks noChangeAspect="1"/>
          </p:cNvPicPr>
          <p:nvPr/>
        </p:nvPicPr>
        <p:blipFill>
          <a:blip r:embed="rId3">
            <a:alphaModFix/>
          </a:blip>
          <a:srcRect t="493" b="14602"/>
          <a:stretch>
            <a:fillRect/>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109A96-8C39-1931-41C0-B226A91DC3A3}"/>
              </a:ext>
            </a:extLst>
          </p:cNvPr>
          <p:cNvSpPr>
            <a:spLocks noGrp="1"/>
          </p:cNvSpPr>
          <p:nvPr>
            <p:ph type="ctrTitle"/>
          </p:nvPr>
        </p:nvSpPr>
        <p:spPr>
          <a:xfrm>
            <a:off x="762000" y="1137434"/>
            <a:ext cx="10809316" cy="1520987"/>
          </a:xfrm>
        </p:spPr>
        <p:txBody>
          <a:bodyPr anchor="t">
            <a:noAutofit/>
          </a:bodyPr>
          <a:lstStyle/>
          <a:p>
            <a:pPr algn="l"/>
            <a:r>
              <a:rPr lang="en-US" sz="5000" b="1" dirty="0">
                <a:solidFill>
                  <a:srgbClr val="FFFFFF"/>
                </a:solidFill>
              </a:rPr>
              <a:t>Knowledge Production in the Age of AI</a:t>
            </a:r>
            <a:br>
              <a:rPr lang="en-US" sz="5000" dirty="0">
                <a:solidFill>
                  <a:srgbClr val="FFFFFF"/>
                </a:solidFill>
              </a:rPr>
            </a:br>
            <a:r>
              <a:rPr lang="en-US" sz="5000" dirty="0">
                <a:solidFill>
                  <a:srgbClr val="FFFFFF"/>
                </a:solidFill>
              </a:rPr>
              <a:t>Astronomy, Noesis &amp; The AI Co-Scientist</a:t>
            </a:r>
            <a:br>
              <a:rPr lang="en-US" sz="5000" dirty="0">
                <a:solidFill>
                  <a:srgbClr val="FFFFFF"/>
                </a:solidFill>
              </a:rPr>
            </a:br>
            <a:endParaRPr lang="en-US" sz="5000" dirty="0">
              <a:solidFill>
                <a:srgbClr val="FFFFFF"/>
              </a:solidFill>
            </a:endParaRP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889751C-49A1-4F4A-C0A4-3C4CED5690D3}"/>
              </a:ext>
            </a:extLst>
          </p:cNvPr>
          <p:cNvSpPr>
            <a:spLocks noGrp="1"/>
          </p:cNvSpPr>
          <p:nvPr>
            <p:ph type="subTitle" idx="1"/>
          </p:nvPr>
        </p:nvSpPr>
        <p:spPr>
          <a:xfrm>
            <a:off x="762000" y="4649692"/>
            <a:ext cx="6295332" cy="1588514"/>
          </a:xfrm>
        </p:spPr>
        <p:txBody>
          <a:bodyPr anchor="b">
            <a:normAutofit/>
          </a:bodyPr>
          <a:lstStyle/>
          <a:p>
            <a:pPr algn="l"/>
            <a:r>
              <a:rPr lang="en-US" sz="2800" dirty="0">
                <a:solidFill>
                  <a:srgbClr val="FFFFFF"/>
                </a:solidFill>
              </a:rPr>
              <a:t>J G Weston, K Gibson</a:t>
            </a:r>
          </a:p>
          <a:p>
            <a:pPr algn="l"/>
            <a:r>
              <a:rPr lang="en-US" sz="2800" dirty="0">
                <a:solidFill>
                  <a:srgbClr val="FFFFFF"/>
                </a:solidFill>
              </a:rPr>
              <a:t>15</a:t>
            </a:r>
            <a:r>
              <a:rPr lang="en-US" sz="2800" baseline="30000" dirty="0">
                <a:solidFill>
                  <a:srgbClr val="FFFFFF"/>
                </a:solidFill>
              </a:rPr>
              <a:t>th</a:t>
            </a:r>
            <a:r>
              <a:rPr lang="en-US" sz="2800" dirty="0">
                <a:solidFill>
                  <a:srgbClr val="FFFFFF"/>
                </a:solidFill>
              </a:rPr>
              <a:t> January 2026</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170" name="Picture 2">
            <a:extLst>
              <a:ext uri="{FF2B5EF4-FFF2-40B4-BE49-F238E27FC236}">
                <a16:creationId xmlns:a16="http://schemas.microsoft.com/office/drawing/2014/main" id="{CB4AE2D9-B58A-7B22-CD5A-9F6AC3B458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5665" y="5294345"/>
            <a:ext cx="2354811" cy="85244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Leverhulme Trust (@LeverhulmeTrust) / Posts / X">
            <a:extLst>
              <a:ext uri="{FF2B5EF4-FFF2-40B4-BE49-F238E27FC236}">
                <a16:creationId xmlns:a16="http://schemas.microsoft.com/office/drawing/2014/main" id="{F313CF68-BB9A-48F2-5E31-EFB75148D1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4831" b="35228"/>
          <a:stretch>
            <a:fillRect/>
          </a:stretch>
        </p:blipFill>
        <p:spPr bwMode="auto">
          <a:xfrm>
            <a:off x="8574720" y="5294345"/>
            <a:ext cx="2846794" cy="852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80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821163E-73BE-D1B3-BC45-5AB3AC25FAD4}"/>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83CCA3-03C0-24E6-E56D-F5AEC24F63D4}"/>
              </a:ext>
            </a:extLst>
          </p:cNvPr>
          <p:cNvSpPr>
            <a:spLocks noGrp="1"/>
          </p:cNvSpPr>
          <p:nvPr>
            <p:ph type="title"/>
          </p:nvPr>
        </p:nvSpPr>
        <p:spPr>
          <a:xfrm>
            <a:off x="838200" y="509840"/>
            <a:ext cx="10515600" cy="1032934"/>
          </a:xfrm>
        </p:spPr>
        <p:txBody>
          <a:bodyPr/>
          <a:lstStyle/>
          <a:p>
            <a:r>
              <a:rPr lang="en-US" b="1" dirty="0">
                <a:solidFill>
                  <a:schemeClr val="tx2"/>
                </a:solidFill>
              </a:rPr>
              <a:t>AI &amp; Machine Learning in Astronomy</a:t>
            </a:r>
          </a:p>
        </p:txBody>
      </p:sp>
      <p:sp>
        <p:nvSpPr>
          <p:cNvPr id="3" name="Content Placeholder 2">
            <a:extLst>
              <a:ext uri="{FF2B5EF4-FFF2-40B4-BE49-F238E27FC236}">
                <a16:creationId xmlns:a16="http://schemas.microsoft.com/office/drawing/2014/main" id="{F3E23A25-3806-0BA0-F6F1-0793B82D1A9F}"/>
              </a:ext>
            </a:extLst>
          </p:cNvPr>
          <p:cNvSpPr>
            <a:spLocks noGrp="1"/>
          </p:cNvSpPr>
          <p:nvPr>
            <p:ph idx="1"/>
          </p:nvPr>
        </p:nvSpPr>
        <p:spPr>
          <a:xfrm>
            <a:off x="6244787" y="1882588"/>
            <a:ext cx="5484662" cy="4351338"/>
          </a:xfrm>
        </p:spPr>
        <p:txBody>
          <a:bodyPr>
            <a:normAutofit lnSpcReduction="10000"/>
          </a:bodyPr>
          <a:lstStyle/>
          <a:p>
            <a:pPr algn="just"/>
            <a:r>
              <a:rPr lang="en-US" sz="1800" dirty="0">
                <a:solidFill>
                  <a:schemeClr val="tx2"/>
                </a:solidFill>
              </a:rPr>
              <a:t>The new generation of astronomical sky surveys generate Petabyte-scale data that requires AI and ML to effectively analyse. </a:t>
            </a:r>
          </a:p>
          <a:p>
            <a:pPr algn="just"/>
            <a:endParaRPr lang="en-US" sz="1800" dirty="0">
              <a:solidFill>
                <a:schemeClr val="tx2"/>
              </a:solidFill>
            </a:endParaRPr>
          </a:p>
          <a:p>
            <a:pPr algn="just"/>
            <a:r>
              <a:rPr lang="en-US" sz="1800" i="1" dirty="0">
                <a:solidFill>
                  <a:schemeClr val="tx2"/>
                </a:solidFill>
              </a:rPr>
              <a:t>“T</a:t>
            </a:r>
            <a:r>
              <a:rPr lang="en-GB" sz="1800" i="1" dirty="0">
                <a:solidFill>
                  <a:schemeClr val="tx2"/>
                </a:solidFill>
              </a:rPr>
              <a:t>he computational revolution continues to transform the conduct and culture of astronomy through the growing roles of large surveys and shared public data sets, big-team research, applications of machine learning, and numerical simulations, among others, and research investments will need to evolve to adapt to this changing landscape”  </a:t>
            </a:r>
            <a:r>
              <a:rPr lang="en-GB" sz="1800" b="1" dirty="0">
                <a:solidFill>
                  <a:schemeClr val="tx2"/>
                </a:solidFill>
              </a:rPr>
              <a:t>- Pathways to Discovery in Astronomy and Astrophysics for the 2020s [2]</a:t>
            </a:r>
            <a:endParaRPr lang="en-US" sz="1800" dirty="0">
              <a:solidFill>
                <a:schemeClr val="tx2"/>
              </a:solidFill>
            </a:endParaRPr>
          </a:p>
          <a:p>
            <a:pPr algn="just"/>
            <a:endParaRPr lang="en-US" sz="1800" dirty="0">
              <a:solidFill>
                <a:schemeClr val="tx2"/>
              </a:solidFill>
            </a:endParaRPr>
          </a:p>
          <a:p>
            <a:pPr algn="just"/>
            <a:r>
              <a:rPr lang="en-US" sz="1800" dirty="0">
                <a:solidFill>
                  <a:schemeClr val="tx2"/>
                </a:solidFill>
              </a:rPr>
              <a:t>New collaborations and institutes have been formed to incorporate and develop the field of Astroinformatics.</a:t>
            </a:r>
          </a:p>
        </p:txBody>
      </p:sp>
      <p:sp>
        <p:nvSpPr>
          <p:cNvPr id="5" name="TextBox 4">
            <a:extLst>
              <a:ext uri="{FF2B5EF4-FFF2-40B4-BE49-F238E27FC236}">
                <a16:creationId xmlns:a16="http://schemas.microsoft.com/office/drawing/2014/main" id="{FA5AFEF9-51B3-E212-D332-1FFBEF349610}"/>
              </a:ext>
            </a:extLst>
          </p:cNvPr>
          <p:cNvSpPr txBox="1"/>
          <p:nvPr/>
        </p:nvSpPr>
        <p:spPr>
          <a:xfrm>
            <a:off x="986988" y="5167312"/>
            <a:ext cx="4733364" cy="646331"/>
          </a:xfrm>
          <a:prstGeom prst="rect">
            <a:avLst/>
          </a:prstGeom>
          <a:noFill/>
        </p:spPr>
        <p:txBody>
          <a:bodyPr wrap="square" rtlCol="0">
            <a:spAutoFit/>
          </a:bodyPr>
          <a:lstStyle/>
          <a:p>
            <a:r>
              <a:rPr lang="en-US" dirty="0">
                <a:solidFill>
                  <a:schemeClr val="tx2"/>
                </a:solidFill>
              </a:rPr>
              <a:t>1. Number of astrophysics articles containing the term “machine learning” by year [1].</a:t>
            </a:r>
          </a:p>
        </p:txBody>
      </p:sp>
      <p:pic>
        <p:nvPicPr>
          <p:cNvPr id="10" name="Picture 9">
            <a:extLst>
              <a:ext uri="{FF2B5EF4-FFF2-40B4-BE49-F238E27FC236}">
                <a16:creationId xmlns:a16="http://schemas.microsoft.com/office/drawing/2014/main" id="{24D22F58-8DB6-F796-FC84-BCBBAC825777}"/>
              </a:ext>
            </a:extLst>
          </p:cNvPr>
          <p:cNvPicPr>
            <a:picLocks noChangeAspect="1"/>
          </p:cNvPicPr>
          <p:nvPr/>
        </p:nvPicPr>
        <p:blipFill>
          <a:blip r:embed="rId3"/>
          <a:stretch>
            <a:fillRect/>
          </a:stretch>
        </p:blipFill>
        <p:spPr>
          <a:xfrm>
            <a:off x="462554" y="2025656"/>
            <a:ext cx="5257798" cy="3141656"/>
          </a:xfrm>
          <a:prstGeom prst="rect">
            <a:avLst/>
          </a:prstGeom>
        </p:spPr>
      </p:pic>
    </p:spTree>
    <p:extLst>
      <p:ext uri="{BB962C8B-B14F-4D97-AF65-F5344CB8AC3E}">
        <p14:creationId xmlns:p14="http://schemas.microsoft.com/office/powerpoint/2010/main" val="1250820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a:extLst>
              <a:ext uri="{FF2B5EF4-FFF2-40B4-BE49-F238E27FC236}">
                <a16:creationId xmlns:a16="http://schemas.microsoft.com/office/drawing/2014/main" id="{ADB7FB48-7C2C-21C5-2485-81EF0D96FFAB}"/>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73035-C650-BD3A-E3D6-055520CDA9B2}"/>
              </a:ext>
            </a:extLst>
          </p:cNvPr>
          <p:cNvSpPr>
            <a:spLocks noGrp="1"/>
          </p:cNvSpPr>
          <p:nvPr>
            <p:ph type="title"/>
          </p:nvPr>
        </p:nvSpPr>
        <p:spPr>
          <a:xfrm>
            <a:off x="619929" y="509840"/>
            <a:ext cx="6392333" cy="1032934"/>
          </a:xfrm>
        </p:spPr>
        <p:txBody>
          <a:bodyPr/>
          <a:lstStyle/>
          <a:p>
            <a:r>
              <a:rPr lang="en-US" b="1" dirty="0">
                <a:solidFill>
                  <a:schemeClr val="tx2"/>
                </a:solidFill>
              </a:rPr>
              <a:t>Exosomatization &amp; Noesis</a:t>
            </a:r>
          </a:p>
        </p:txBody>
      </p:sp>
      <p:sp>
        <p:nvSpPr>
          <p:cNvPr id="3" name="Content Placeholder 2">
            <a:extLst>
              <a:ext uri="{FF2B5EF4-FFF2-40B4-BE49-F238E27FC236}">
                <a16:creationId xmlns:a16="http://schemas.microsoft.com/office/drawing/2014/main" id="{76AAD675-05C8-59E8-5B81-DFEF078C1CA7}"/>
              </a:ext>
            </a:extLst>
          </p:cNvPr>
          <p:cNvSpPr>
            <a:spLocks noGrp="1"/>
          </p:cNvSpPr>
          <p:nvPr>
            <p:ph idx="1"/>
          </p:nvPr>
        </p:nvSpPr>
        <p:spPr>
          <a:xfrm>
            <a:off x="619929" y="2052614"/>
            <a:ext cx="6392333" cy="4351338"/>
          </a:xfrm>
        </p:spPr>
        <p:txBody>
          <a:bodyPr>
            <a:normAutofit/>
          </a:bodyPr>
          <a:lstStyle/>
          <a:p>
            <a:pPr algn="just"/>
            <a:r>
              <a:rPr lang="en-GB" sz="2000" dirty="0">
                <a:solidFill>
                  <a:schemeClr val="tx2"/>
                </a:solidFill>
              </a:rPr>
              <a:t>Exosomatization externalises operations of thinking into technics, which in turn creates new opportunities and priorities for evolution [3].</a:t>
            </a:r>
          </a:p>
          <a:p>
            <a:pPr algn="just"/>
            <a:endParaRPr lang="en-GB" sz="2000" dirty="0">
              <a:solidFill>
                <a:schemeClr val="tx2"/>
              </a:solidFill>
            </a:endParaRPr>
          </a:p>
          <a:p>
            <a:pPr algn="just"/>
            <a:r>
              <a:rPr lang="en-GB" sz="2000" dirty="0">
                <a:solidFill>
                  <a:schemeClr val="tx2"/>
                </a:solidFill>
              </a:rPr>
              <a:t>Vision is technically displaced when using survey telescopes: seeing is mediated through instruments that incorporate previous discoveries. In turn, the telescope reorganises human perception and cognition across new wavelengths and timescales.</a:t>
            </a:r>
            <a:endParaRPr lang="en-US" sz="2000" dirty="0">
              <a:solidFill>
                <a:schemeClr val="tx2"/>
              </a:solidFill>
            </a:endParaRPr>
          </a:p>
          <a:p>
            <a:pPr algn="just"/>
            <a:endParaRPr lang="en-US" sz="2000" dirty="0">
              <a:solidFill>
                <a:schemeClr val="tx2"/>
              </a:solidFill>
            </a:endParaRPr>
          </a:p>
          <a:p>
            <a:pPr algn="just"/>
            <a:r>
              <a:rPr lang="en-GB" sz="2000" i="0" dirty="0">
                <a:solidFill>
                  <a:schemeClr val="tx2"/>
                </a:solidFill>
                <a:effectLst/>
              </a:rPr>
              <a:t>Exosomatization partly performs noetic acts or noesis; the active process of thinking and understanding. </a:t>
            </a:r>
            <a:r>
              <a:rPr lang="en-GB" sz="2000" dirty="0">
                <a:solidFill>
                  <a:schemeClr val="tx2"/>
                </a:solidFill>
              </a:rPr>
              <a:t>Humanity is defined by this co-evolution with technics.</a:t>
            </a:r>
            <a:endParaRPr lang="en-US" sz="2000" dirty="0">
              <a:solidFill>
                <a:schemeClr val="tx2"/>
              </a:solidFill>
            </a:endParaRPr>
          </a:p>
        </p:txBody>
      </p:sp>
      <p:grpSp>
        <p:nvGrpSpPr>
          <p:cNvPr id="1025" name="Group 1024">
            <a:extLst>
              <a:ext uri="{FF2B5EF4-FFF2-40B4-BE49-F238E27FC236}">
                <a16:creationId xmlns:a16="http://schemas.microsoft.com/office/drawing/2014/main" id="{1963CF35-D24B-4A53-5CA9-2A304EF80A90}"/>
              </a:ext>
            </a:extLst>
          </p:cNvPr>
          <p:cNvGrpSpPr/>
          <p:nvPr/>
        </p:nvGrpSpPr>
        <p:grpSpPr>
          <a:xfrm>
            <a:off x="7645397" y="0"/>
            <a:ext cx="4546603" cy="54220008"/>
            <a:chOff x="7645397" y="-13555920"/>
            <a:chExt cx="4546603" cy="54220008"/>
          </a:xfrm>
        </p:grpSpPr>
        <p:grpSp>
          <p:nvGrpSpPr>
            <p:cNvPr id="25" name="Group 24">
              <a:extLst>
                <a:ext uri="{FF2B5EF4-FFF2-40B4-BE49-F238E27FC236}">
                  <a16:creationId xmlns:a16="http://schemas.microsoft.com/office/drawing/2014/main" id="{2537B252-0EC6-8C1F-D187-34C89DDFB844}"/>
                </a:ext>
              </a:extLst>
            </p:cNvPr>
            <p:cNvGrpSpPr/>
            <p:nvPr/>
          </p:nvGrpSpPr>
          <p:grpSpPr>
            <a:xfrm>
              <a:off x="7651494" y="0"/>
              <a:ext cx="4537457" cy="13567416"/>
              <a:chOff x="7657591" y="0"/>
              <a:chExt cx="4537457" cy="13567416"/>
            </a:xfrm>
          </p:grpSpPr>
          <p:grpSp>
            <p:nvGrpSpPr>
              <p:cNvPr id="26" name="Group 25">
                <a:extLst>
                  <a:ext uri="{FF2B5EF4-FFF2-40B4-BE49-F238E27FC236}">
                    <a16:creationId xmlns:a16="http://schemas.microsoft.com/office/drawing/2014/main" id="{03951904-527E-843F-7AD1-8B5E996EA31A}"/>
                  </a:ext>
                </a:extLst>
              </p:cNvPr>
              <p:cNvGrpSpPr/>
              <p:nvPr/>
            </p:nvGrpSpPr>
            <p:grpSpPr>
              <a:xfrm>
                <a:off x="7660640" y="0"/>
                <a:ext cx="4531360" cy="4531359"/>
                <a:chOff x="7230872" y="-2986341"/>
                <a:chExt cx="4531360" cy="4531359"/>
              </a:xfrm>
            </p:grpSpPr>
            <p:sp>
              <p:nvSpPr>
                <p:cNvPr id="33" name="Rectangle 32">
                  <a:extLst>
                    <a:ext uri="{FF2B5EF4-FFF2-40B4-BE49-F238E27FC236}">
                      <a16:creationId xmlns:a16="http://schemas.microsoft.com/office/drawing/2014/main" id="{12FD15B1-6632-ADC2-3974-D42F468DE7A4}"/>
                    </a:ext>
                  </a:extLst>
                </p:cNvPr>
                <p:cNvSpPr/>
                <p:nvPr/>
              </p:nvSpPr>
              <p:spPr>
                <a:xfrm>
                  <a:off x="7230872" y="72543"/>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“Advances in theory and scientific computing directly enable analyses from current experiments and help to guide the design of future ones.” [2]</a:t>
                  </a:r>
                  <a:endParaRPr lang="en-US" b="1" dirty="0"/>
                </a:p>
              </p:txBody>
            </p:sp>
            <p:pic>
              <p:nvPicPr>
                <p:cNvPr id="34" name="Picture 2" descr="Rubin Observatory and the Galaxies">
                  <a:extLst>
                    <a:ext uri="{FF2B5EF4-FFF2-40B4-BE49-F238E27FC236}">
                      <a16:creationId xmlns:a16="http://schemas.microsoft.com/office/drawing/2014/main" id="{2153DF58-EA6D-9903-648E-2F6F5D0381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62" r="-1"/>
                <a:stretch>
                  <a:fillRect/>
                </a:stretch>
              </p:blipFill>
              <p:spPr bwMode="auto">
                <a:xfrm>
                  <a:off x="7230872" y="-2986341"/>
                  <a:ext cx="4531360" cy="30588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83F119E4-4D38-E399-1FF2-B4E4EF074215}"/>
                  </a:ext>
                </a:extLst>
              </p:cNvPr>
              <p:cNvGrpSpPr/>
              <p:nvPr/>
            </p:nvGrpSpPr>
            <p:grpSpPr>
              <a:xfrm>
                <a:off x="7660640" y="4529524"/>
                <a:ext cx="4534408" cy="4559860"/>
                <a:chOff x="7230872" y="1543183"/>
                <a:chExt cx="4534408" cy="4559860"/>
              </a:xfrm>
            </p:grpSpPr>
            <p:pic>
              <p:nvPicPr>
                <p:cNvPr id="31" name="Picture 8" descr="Who really invented the telescope? | BBC Sky at Night Magazine">
                  <a:extLst>
                    <a:ext uri="{FF2B5EF4-FFF2-40B4-BE49-F238E27FC236}">
                      <a16:creationId xmlns:a16="http://schemas.microsoft.com/office/drawing/2014/main" id="{DC910627-2378-9C0D-A2C6-3DC8EDF923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80" b="15614"/>
                <a:stretch>
                  <a:fillRect/>
                </a:stretch>
              </p:blipFill>
              <p:spPr bwMode="auto">
                <a:xfrm>
                  <a:off x="7230872" y="1543183"/>
                  <a:ext cx="4531360" cy="311404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4FB5502F-FC7A-DE96-7AD8-A170F5FDEA89}"/>
                    </a:ext>
                  </a:extLst>
                </p:cNvPr>
                <p:cNvSpPr/>
                <p:nvPr/>
              </p:nvSpPr>
              <p:spPr>
                <a:xfrm>
                  <a:off x="7233920" y="4630568"/>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“The modern observations deprive all former writers of any authority, since if they had seen what we see, they would have judged as we judge.” [4]</a:t>
                  </a:r>
                  <a:endParaRPr lang="en-US" b="1" dirty="0"/>
                </a:p>
              </p:txBody>
            </p:sp>
          </p:grpSp>
          <p:grpSp>
            <p:nvGrpSpPr>
              <p:cNvPr id="28" name="Group 27">
                <a:extLst>
                  <a:ext uri="{FF2B5EF4-FFF2-40B4-BE49-F238E27FC236}">
                    <a16:creationId xmlns:a16="http://schemas.microsoft.com/office/drawing/2014/main" id="{59CCB019-9383-3A43-A792-2603BCB949F9}"/>
                  </a:ext>
                </a:extLst>
              </p:cNvPr>
              <p:cNvGrpSpPr/>
              <p:nvPr/>
            </p:nvGrpSpPr>
            <p:grpSpPr>
              <a:xfrm>
                <a:off x="7657591" y="9062720"/>
                <a:ext cx="4534409" cy="4504696"/>
                <a:chOff x="7227823" y="6076379"/>
                <a:chExt cx="4534409" cy="4504696"/>
              </a:xfrm>
            </p:grpSpPr>
            <p:pic>
              <p:nvPicPr>
                <p:cNvPr id="29" name="Picture 6" descr="The enigma of the Lascaux Bird Man: The erection that embodies the  mysteries of prehistoric art | Opinion | EL PAÍS English">
                  <a:extLst>
                    <a:ext uri="{FF2B5EF4-FFF2-40B4-BE49-F238E27FC236}">
                      <a16:creationId xmlns:a16="http://schemas.microsoft.com/office/drawing/2014/main" id="{8EBA5CFF-2164-61B4-B85F-35AF7D7A19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56"/>
                <a:stretch>
                  <a:fillRect/>
                </a:stretch>
              </p:blipFill>
              <p:spPr bwMode="auto">
                <a:xfrm>
                  <a:off x="7230871" y="6076379"/>
                  <a:ext cx="4531361" cy="3058885"/>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1F80F6B2-8B3B-A1A6-AE1F-E4DDC7F90F9A}"/>
                    </a:ext>
                  </a:extLst>
                </p:cNvPr>
                <p:cNvSpPr/>
                <p:nvPr/>
              </p:nvSpPr>
              <p:spPr>
                <a:xfrm>
                  <a:off x="7227823" y="9108600"/>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i="1" dirty="0"/>
                    <a:t>“</a:t>
                  </a:r>
                  <a:r>
                    <a:rPr lang="en-GB" b="1" dirty="0"/>
                    <a:t>It is ‘Lascaux man’ about whom we can surely say, and for the first time that, making works of art, he evidently resembled us, he was one of us, our fellow man.” [5]</a:t>
                  </a:r>
                </a:p>
              </p:txBody>
            </p:sp>
          </p:grpSp>
        </p:grpSp>
        <p:grpSp>
          <p:nvGrpSpPr>
            <p:cNvPr id="24" name="Group 23">
              <a:extLst>
                <a:ext uri="{FF2B5EF4-FFF2-40B4-BE49-F238E27FC236}">
                  <a16:creationId xmlns:a16="http://schemas.microsoft.com/office/drawing/2014/main" id="{41F07AF6-CFC1-EC9E-779C-B912A6ABCC5F}"/>
                </a:ext>
              </a:extLst>
            </p:cNvPr>
            <p:cNvGrpSpPr/>
            <p:nvPr/>
          </p:nvGrpSpPr>
          <p:grpSpPr>
            <a:xfrm>
              <a:off x="7654543" y="-13555920"/>
              <a:ext cx="4537457" cy="13567416"/>
              <a:chOff x="7657591" y="0"/>
              <a:chExt cx="4537457" cy="13567416"/>
            </a:xfrm>
          </p:grpSpPr>
          <p:grpSp>
            <p:nvGrpSpPr>
              <p:cNvPr id="19" name="Group 18">
                <a:extLst>
                  <a:ext uri="{FF2B5EF4-FFF2-40B4-BE49-F238E27FC236}">
                    <a16:creationId xmlns:a16="http://schemas.microsoft.com/office/drawing/2014/main" id="{540BD9CB-3677-84C1-A778-ED2A94E427E3}"/>
                  </a:ext>
                </a:extLst>
              </p:cNvPr>
              <p:cNvGrpSpPr/>
              <p:nvPr/>
            </p:nvGrpSpPr>
            <p:grpSpPr>
              <a:xfrm>
                <a:off x="7660640" y="0"/>
                <a:ext cx="4531360" cy="4531359"/>
                <a:chOff x="7230872" y="-2986341"/>
                <a:chExt cx="4531360" cy="4531359"/>
              </a:xfrm>
            </p:grpSpPr>
            <p:sp>
              <p:nvSpPr>
                <p:cNvPr id="7" name="Rectangle 6">
                  <a:extLst>
                    <a:ext uri="{FF2B5EF4-FFF2-40B4-BE49-F238E27FC236}">
                      <a16:creationId xmlns:a16="http://schemas.microsoft.com/office/drawing/2014/main" id="{317D25C7-A3E7-6548-8803-17894038608D}"/>
                    </a:ext>
                  </a:extLst>
                </p:cNvPr>
                <p:cNvSpPr/>
                <p:nvPr/>
              </p:nvSpPr>
              <p:spPr>
                <a:xfrm>
                  <a:off x="7230872" y="72543"/>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“Advances in theory and scientific computing directly enable analyses from current experiments and help to guide the design of future ones.” [2]</a:t>
                  </a:r>
                  <a:endParaRPr lang="en-US" b="1" dirty="0"/>
                </a:p>
              </p:txBody>
            </p:sp>
            <p:pic>
              <p:nvPicPr>
                <p:cNvPr id="1026" name="Picture 2" descr="Rubin Observatory and the Galaxies">
                  <a:extLst>
                    <a:ext uri="{FF2B5EF4-FFF2-40B4-BE49-F238E27FC236}">
                      <a16:creationId xmlns:a16="http://schemas.microsoft.com/office/drawing/2014/main" id="{2C57208F-11E6-A20D-BF04-2BEEBA44E6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62" r="-1"/>
                <a:stretch>
                  <a:fillRect/>
                </a:stretch>
              </p:blipFill>
              <p:spPr bwMode="auto">
                <a:xfrm>
                  <a:off x="7230872" y="-2986341"/>
                  <a:ext cx="4531360" cy="30588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25BC2499-45AC-C315-C584-32398E3CBF34}"/>
                  </a:ext>
                </a:extLst>
              </p:cNvPr>
              <p:cNvGrpSpPr/>
              <p:nvPr/>
            </p:nvGrpSpPr>
            <p:grpSpPr>
              <a:xfrm>
                <a:off x="7660640" y="4529524"/>
                <a:ext cx="4534408" cy="4559860"/>
                <a:chOff x="7230872" y="1543183"/>
                <a:chExt cx="4534408" cy="4559860"/>
              </a:xfrm>
            </p:grpSpPr>
            <p:pic>
              <p:nvPicPr>
                <p:cNvPr id="1032" name="Picture 8" descr="Who really invented the telescope? | BBC Sky at Night Magazine">
                  <a:extLst>
                    <a:ext uri="{FF2B5EF4-FFF2-40B4-BE49-F238E27FC236}">
                      <a16:creationId xmlns:a16="http://schemas.microsoft.com/office/drawing/2014/main" id="{8731F65A-C6F9-F31A-F0ED-C2F86CA561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80" b="15614"/>
                <a:stretch>
                  <a:fillRect/>
                </a:stretch>
              </p:blipFill>
              <p:spPr bwMode="auto">
                <a:xfrm>
                  <a:off x="7230872" y="1543183"/>
                  <a:ext cx="4531360" cy="311404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7784C786-8461-1D34-DC2C-ADDA2C3E56CA}"/>
                    </a:ext>
                  </a:extLst>
                </p:cNvPr>
                <p:cNvSpPr/>
                <p:nvPr/>
              </p:nvSpPr>
              <p:spPr>
                <a:xfrm>
                  <a:off x="7233920" y="4630568"/>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“The modern observations deprive all former writers of any authority, since if they had seen what we see, they would have judged as we judge.” [4]</a:t>
                  </a:r>
                  <a:endParaRPr lang="en-US" b="1" dirty="0"/>
                </a:p>
              </p:txBody>
            </p:sp>
          </p:grpSp>
          <p:grpSp>
            <p:nvGrpSpPr>
              <p:cNvPr id="22" name="Group 21">
                <a:extLst>
                  <a:ext uri="{FF2B5EF4-FFF2-40B4-BE49-F238E27FC236}">
                    <a16:creationId xmlns:a16="http://schemas.microsoft.com/office/drawing/2014/main" id="{D2DCF4A2-B861-42D3-1EDC-FAD74628F19F}"/>
                  </a:ext>
                </a:extLst>
              </p:cNvPr>
              <p:cNvGrpSpPr/>
              <p:nvPr/>
            </p:nvGrpSpPr>
            <p:grpSpPr>
              <a:xfrm>
                <a:off x="7657591" y="9062720"/>
                <a:ext cx="4534409" cy="4504696"/>
                <a:chOff x="7227823" y="6076379"/>
                <a:chExt cx="4534409" cy="4504696"/>
              </a:xfrm>
            </p:grpSpPr>
            <p:pic>
              <p:nvPicPr>
                <p:cNvPr id="1030" name="Picture 6" descr="The enigma of the Lascaux Bird Man: The erection that embodies the  mysteries of prehistoric art | Opinion | EL PAÍS English">
                  <a:extLst>
                    <a:ext uri="{FF2B5EF4-FFF2-40B4-BE49-F238E27FC236}">
                      <a16:creationId xmlns:a16="http://schemas.microsoft.com/office/drawing/2014/main" id="{56F04FD0-E375-056D-85CA-3C6B8B148B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56"/>
                <a:stretch>
                  <a:fillRect/>
                </a:stretch>
              </p:blipFill>
              <p:spPr bwMode="auto">
                <a:xfrm>
                  <a:off x="7230871" y="6076379"/>
                  <a:ext cx="4531361" cy="3058885"/>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4ACC4C10-ACA0-002D-101A-82C60A8936EB}"/>
                    </a:ext>
                  </a:extLst>
                </p:cNvPr>
                <p:cNvSpPr/>
                <p:nvPr/>
              </p:nvSpPr>
              <p:spPr>
                <a:xfrm>
                  <a:off x="7227823" y="9108600"/>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i="1" dirty="0"/>
                    <a:t>“</a:t>
                  </a:r>
                  <a:r>
                    <a:rPr lang="en-GB" b="1" dirty="0"/>
                    <a:t>It is ‘Lascaux man’ about whom we can surely say, and for the first time that, making works of art, he evidently resembled us, he was one of us, our fellow man.” [5]</a:t>
                  </a:r>
                </a:p>
              </p:txBody>
            </p:sp>
          </p:grpSp>
        </p:grpSp>
        <p:grpSp>
          <p:nvGrpSpPr>
            <p:cNvPr id="45" name="Group 44">
              <a:extLst>
                <a:ext uri="{FF2B5EF4-FFF2-40B4-BE49-F238E27FC236}">
                  <a16:creationId xmlns:a16="http://schemas.microsoft.com/office/drawing/2014/main" id="{6C9DCB4A-A4A8-7F96-3F12-5D0DCA993975}"/>
                </a:ext>
              </a:extLst>
            </p:cNvPr>
            <p:cNvGrpSpPr/>
            <p:nvPr/>
          </p:nvGrpSpPr>
          <p:grpSpPr>
            <a:xfrm>
              <a:off x="7645397" y="27096672"/>
              <a:ext cx="4537457" cy="13567416"/>
              <a:chOff x="7657591" y="0"/>
              <a:chExt cx="4537457" cy="13567416"/>
            </a:xfrm>
          </p:grpSpPr>
          <p:grpSp>
            <p:nvGrpSpPr>
              <p:cNvPr id="46" name="Group 45">
                <a:extLst>
                  <a:ext uri="{FF2B5EF4-FFF2-40B4-BE49-F238E27FC236}">
                    <a16:creationId xmlns:a16="http://schemas.microsoft.com/office/drawing/2014/main" id="{AFA3C205-9FD6-D136-6F28-B1C736CBF045}"/>
                  </a:ext>
                </a:extLst>
              </p:cNvPr>
              <p:cNvGrpSpPr/>
              <p:nvPr/>
            </p:nvGrpSpPr>
            <p:grpSpPr>
              <a:xfrm>
                <a:off x="7660640" y="0"/>
                <a:ext cx="4531360" cy="4531359"/>
                <a:chOff x="7230872" y="-2986341"/>
                <a:chExt cx="4531360" cy="4531359"/>
              </a:xfrm>
            </p:grpSpPr>
            <p:sp>
              <p:nvSpPr>
                <p:cNvPr id="53" name="Rectangle 52">
                  <a:extLst>
                    <a:ext uri="{FF2B5EF4-FFF2-40B4-BE49-F238E27FC236}">
                      <a16:creationId xmlns:a16="http://schemas.microsoft.com/office/drawing/2014/main" id="{4FB61230-0019-3157-6249-58CA618EF355}"/>
                    </a:ext>
                  </a:extLst>
                </p:cNvPr>
                <p:cNvSpPr/>
                <p:nvPr/>
              </p:nvSpPr>
              <p:spPr>
                <a:xfrm>
                  <a:off x="7230872" y="72543"/>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“Advances in theory and scientific computing directly enable analyses from current experiments and help to guide the design of future ones.” [2]</a:t>
                  </a:r>
                  <a:endParaRPr lang="en-US" b="1" dirty="0"/>
                </a:p>
              </p:txBody>
            </p:sp>
            <p:pic>
              <p:nvPicPr>
                <p:cNvPr id="54" name="Picture 2" descr="Rubin Observatory and the Galaxies">
                  <a:extLst>
                    <a:ext uri="{FF2B5EF4-FFF2-40B4-BE49-F238E27FC236}">
                      <a16:creationId xmlns:a16="http://schemas.microsoft.com/office/drawing/2014/main" id="{0DE27706-1173-F4FA-A0AB-1550F8AAB2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62" r="-1"/>
                <a:stretch>
                  <a:fillRect/>
                </a:stretch>
              </p:blipFill>
              <p:spPr bwMode="auto">
                <a:xfrm>
                  <a:off x="7230872" y="-2986341"/>
                  <a:ext cx="4531360" cy="30588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Group 46">
                <a:extLst>
                  <a:ext uri="{FF2B5EF4-FFF2-40B4-BE49-F238E27FC236}">
                    <a16:creationId xmlns:a16="http://schemas.microsoft.com/office/drawing/2014/main" id="{19EED035-5FB4-ED1E-433E-0FD35A82BA47}"/>
                  </a:ext>
                </a:extLst>
              </p:cNvPr>
              <p:cNvGrpSpPr/>
              <p:nvPr/>
            </p:nvGrpSpPr>
            <p:grpSpPr>
              <a:xfrm>
                <a:off x="7660640" y="4529524"/>
                <a:ext cx="4534408" cy="4559860"/>
                <a:chOff x="7230872" y="1543183"/>
                <a:chExt cx="4534408" cy="4559860"/>
              </a:xfrm>
            </p:grpSpPr>
            <p:pic>
              <p:nvPicPr>
                <p:cNvPr id="51" name="Picture 8" descr="Who really invented the telescope? | BBC Sky at Night Magazine">
                  <a:extLst>
                    <a:ext uri="{FF2B5EF4-FFF2-40B4-BE49-F238E27FC236}">
                      <a16:creationId xmlns:a16="http://schemas.microsoft.com/office/drawing/2014/main" id="{87BA4C00-708F-21DF-E08A-209ED2AB75F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80" b="15614"/>
                <a:stretch>
                  <a:fillRect/>
                </a:stretch>
              </p:blipFill>
              <p:spPr bwMode="auto">
                <a:xfrm>
                  <a:off x="7230872" y="1543183"/>
                  <a:ext cx="4531360" cy="3114048"/>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5C0E2627-AA1C-8732-7254-553DD82462FE}"/>
                    </a:ext>
                  </a:extLst>
                </p:cNvPr>
                <p:cNvSpPr/>
                <p:nvPr/>
              </p:nvSpPr>
              <p:spPr>
                <a:xfrm>
                  <a:off x="7233920" y="4630568"/>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“The modern observations deprive all former writers of any authority, since if they had seen what we see, they would have judged as we judge.” [4]</a:t>
                  </a:r>
                  <a:endParaRPr lang="en-US" b="1" dirty="0"/>
                </a:p>
              </p:txBody>
            </p:sp>
          </p:grpSp>
          <p:grpSp>
            <p:nvGrpSpPr>
              <p:cNvPr id="48" name="Group 47">
                <a:extLst>
                  <a:ext uri="{FF2B5EF4-FFF2-40B4-BE49-F238E27FC236}">
                    <a16:creationId xmlns:a16="http://schemas.microsoft.com/office/drawing/2014/main" id="{8756F287-4B54-B177-69F7-2B43310A43F1}"/>
                  </a:ext>
                </a:extLst>
              </p:cNvPr>
              <p:cNvGrpSpPr/>
              <p:nvPr/>
            </p:nvGrpSpPr>
            <p:grpSpPr>
              <a:xfrm>
                <a:off x="7657591" y="9062720"/>
                <a:ext cx="4534409" cy="4504696"/>
                <a:chOff x="7227823" y="6076379"/>
                <a:chExt cx="4534409" cy="4504696"/>
              </a:xfrm>
            </p:grpSpPr>
            <p:pic>
              <p:nvPicPr>
                <p:cNvPr id="49" name="Picture 6" descr="The enigma of the Lascaux Bird Man: The erection that embodies the  mysteries of prehistoric art | Opinion | EL PAÍS English">
                  <a:extLst>
                    <a:ext uri="{FF2B5EF4-FFF2-40B4-BE49-F238E27FC236}">
                      <a16:creationId xmlns:a16="http://schemas.microsoft.com/office/drawing/2014/main" id="{1E79C445-0D80-D7AD-AC8D-1CB62E3BE22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56"/>
                <a:stretch>
                  <a:fillRect/>
                </a:stretch>
              </p:blipFill>
              <p:spPr bwMode="auto">
                <a:xfrm>
                  <a:off x="7230871" y="6076379"/>
                  <a:ext cx="4531361" cy="3058885"/>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49">
                  <a:extLst>
                    <a:ext uri="{FF2B5EF4-FFF2-40B4-BE49-F238E27FC236}">
                      <a16:creationId xmlns:a16="http://schemas.microsoft.com/office/drawing/2014/main" id="{A8EF87EA-2354-4D50-11AF-85590E39E219}"/>
                    </a:ext>
                  </a:extLst>
                </p:cNvPr>
                <p:cNvSpPr/>
                <p:nvPr/>
              </p:nvSpPr>
              <p:spPr>
                <a:xfrm>
                  <a:off x="7227823" y="9108600"/>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i="1" dirty="0"/>
                    <a:t>“</a:t>
                  </a:r>
                  <a:r>
                    <a:rPr lang="en-GB" b="1" dirty="0"/>
                    <a:t>It is ‘Lascaux man’ about whom we can surely say, and for the first time that, making works of art, he evidently resembled us, he was one of us, our fellow man.” [5]</a:t>
                  </a:r>
                </a:p>
              </p:txBody>
            </p:sp>
          </p:grpSp>
        </p:grpSp>
        <p:grpSp>
          <p:nvGrpSpPr>
            <p:cNvPr id="55" name="Group 54">
              <a:extLst>
                <a:ext uri="{FF2B5EF4-FFF2-40B4-BE49-F238E27FC236}">
                  <a16:creationId xmlns:a16="http://schemas.microsoft.com/office/drawing/2014/main" id="{D2CC3565-2E99-E148-209D-432C05BDD358}"/>
                </a:ext>
              </a:extLst>
            </p:cNvPr>
            <p:cNvGrpSpPr/>
            <p:nvPr/>
          </p:nvGrpSpPr>
          <p:grpSpPr>
            <a:xfrm>
              <a:off x="7648446" y="13540752"/>
              <a:ext cx="4537457" cy="13567416"/>
              <a:chOff x="7657591" y="0"/>
              <a:chExt cx="4537457" cy="13567416"/>
            </a:xfrm>
          </p:grpSpPr>
          <p:grpSp>
            <p:nvGrpSpPr>
              <p:cNvPr id="56" name="Group 55">
                <a:extLst>
                  <a:ext uri="{FF2B5EF4-FFF2-40B4-BE49-F238E27FC236}">
                    <a16:creationId xmlns:a16="http://schemas.microsoft.com/office/drawing/2014/main" id="{345696C7-4FF9-935C-7AC3-0161146EF342}"/>
                  </a:ext>
                </a:extLst>
              </p:cNvPr>
              <p:cNvGrpSpPr/>
              <p:nvPr/>
            </p:nvGrpSpPr>
            <p:grpSpPr>
              <a:xfrm>
                <a:off x="7660640" y="0"/>
                <a:ext cx="4531360" cy="4531359"/>
                <a:chOff x="7230872" y="-2986341"/>
                <a:chExt cx="4531360" cy="4531359"/>
              </a:xfrm>
            </p:grpSpPr>
            <p:sp>
              <p:nvSpPr>
                <p:cNvPr id="63" name="Rectangle 62">
                  <a:extLst>
                    <a:ext uri="{FF2B5EF4-FFF2-40B4-BE49-F238E27FC236}">
                      <a16:creationId xmlns:a16="http://schemas.microsoft.com/office/drawing/2014/main" id="{74033DC1-8346-EDE3-88FD-2FA06AECC6A5}"/>
                    </a:ext>
                  </a:extLst>
                </p:cNvPr>
                <p:cNvSpPr/>
                <p:nvPr/>
              </p:nvSpPr>
              <p:spPr>
                <a:xfrm>
                  <a:off x="7230872" y="72543"/>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“Advances in theory and scientific computing directly enable analyses from current experiments and help to guide the design of future ones.” [2]</a:t>
                  </a:r>
                  <a:endParaRPr lang="en-US" b="1" dirty="0"/>
                </a:p>
              </p:txBody>
            </p:sp>
            <p:pic>
              <p:nvPicPr>
                <p:cNvPr id="1024" name="Picture 2" descr="Rubin Observatory and the Galaxies">
                  <a:extLst>
                    <a:ext uri="{FF2B5EF4-FFF2-40B4-BE49-F238E27FC236}">
                      <a16:creationId xmlns:a16="http://schemas.microsoft.com/office/drawing/2014/main" id="{5FF32F43-7F69-90A9-BBF4-31C1A6753F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62" r="-1"/>
                <a:stretch>
                  <a:fillRect/>
                </a:stretch>
              </p:blipFill>
              <p:spPr bwMode="auto">
                <a:xfrm>
                  <a:off x="7230872" y="-2986341"/>
                  <a:ext cx="4531360" cy="30588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7" name="Group 56">
                <a:extLst>
                  <a:ext uri="{FF2B5EF4-FFF2-40B4-BE49-F238E27FC236}">
                    <a16:creationId xmlns:a16="http://schemas.microsoft.com/office/drawing/2014/main" id="{64CB623B-914B-9FCD-4867-A4B278C10DF8}"/>
                  </a:ext>
                </a:extLst>
              </p:cNvPr>
              <p:cNvGrpSpPr/>
              <p:nvPr/>
            </p:nvGrpSpPr>
            <p:grpSpPr>
              <a:xfrm>
                <a:off x="7660640" y="4529524"/>
                <a:ext cx="4534408" cy="4559860"/>
                <a:chOff x="7230872" y="1543183"/>
                <a:chExt cx="4534408" cy="4559860"/>
              </a:xfrm>
            </p:grpSpPr>
            <p:pic>
              <p:nvPicPr>
                <p:cNvPr id="61" name="Picture 8" descr="Who really invented the telescope? | BBC Sky at Night Magazine">
                  <a:extLst>
                    <a:ext uri="{FF2B5EF4-FFF2-40B4-BE49-F238E27FC236}">
                      <a16:creationId xmlns:a16="http://schemas.microsoft.com/office/drawing/2014/main" id="{931EDC56-C217-BDF8-87E5-5C6F98D96E8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80" b="15614"/>
                <a:stretch>
                  <a:fillRect/>
                </a:stretch>
              </p:blipFill>
              <p:spPr bwMode="auto">
                <a:xfrm>
                  <a:off x="7230872" y="1543183"/>
                  <a:ext cx="4531360" cy="3114048"/>
                </a:xfrm>
                <a:prstGeom prst="rect">
                  <a:avLst/>
                </a:prstGeom>
                <a:noFill/>
                <a:extLst>
                  <a:ext uri="{909E8E84-426E-40DD-AFC4-6F175D3DCCD1}">
                    <a14:hiddenFill xmlns:a14="http://schemas.microsoft.com/office/drawing/2010/main">
                      <a:solidFill>
                        <a:srgbClr val="FFFFFF"/>
                      </a:solidFill>
                    </a14:hiddenFill>
                  </a:ext>
                </a:extLst>
              </p:spPr>
            </p:pic>
            <p:sp>
              <p:nvSpPr>
                <p:cNvPr id="62" name="Rectangle 61">
                  <a:extLst>
                    <a:ext uri="{FF2B5EF4-FFF2-40B4-BE49-F238E27FC236}">
                      <a16:creationId xmlns:a16="http://schemas.microsoft.com/office/drawing/2014/main" id="{982D9273-3BC6-661D-D732-FDCED6ED4FE3}"/>
                    </a:ext>
                  </a:extLst>
                </p:cNvPr>
                <p:cNvSpPr/>
                <p:nvPr/>
              </p:nvSpPr>
              <p:spPr>
                <a:xfrm>
                  <a:off x="7233920" y="4630568"/>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“The modern observations deprive all former writers of any authority, since if they had seen what we see, they would have judged as we judge.” [4]</a:t>
                  </a:r>
                  <a:endParaRPr lang="en-US" b="1" dirty="0"/>
                </a:p>
              </p:txBody>
            </p:sp>
          </p:grpSp>
          <p:grpSp>
            <p:nvGrpSpPr>
              <p:cNvPr id="58" name="Group 57">
                <a:extLst>
                  <a:ext uri="{FF2B5EF4-FFF2-40B4-BE49-F238E27FC236}">
                    <a16:creationId xmlns:a16="http://schemas.microsoft.com/office/drawing/2014/main" id="{173C174E-F7B4-6104-E0EF-78C85D6623F1}"/>
                  </a:ext>
                </a:extLst>
              </p:cNvPr>
              <p:cNvGrpSpPr/>
              <p:nvPr/>
            </p:nvGrpSpPr>
            <p:grpSpPr>
              <a:xfrm>
                <a:off x="7657591" y="9062720"/>
                <a:ext cx="4534409" cy="4504696"/>
                <a:chOff x="7227823" y="6076379"/>
                <a:chExt cx="4534409" cy="4504696"/>
              </a:xfrm>
            </p:grpSpPr>
            <p:pic>
              <p:nvPicPr>
                <p:cNvPr id="59" name="Picture 6" descr="The enigma of the Lascaux Bird Man: The erection that embodies the  mysteries of prehistoric art | Opinion | EL PAÍS English">
                  <a:extLst>
                    <a:ext uri="{FF2B5EF4-FFF2-40B4-BE49-F238E27FC236}">
                      <a16:creationId xmlns:a16="http://schemas.microsoft.com/office/drawing/2014/main" id="{939F87FD-9DC6-C9B4-4241-2D846DEC26E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56"/>
                <a:stretch>
                  <a:fillRect/>
                </a:stretch>
              </p:blipFill>
              <p:spPr bwMode="auto">
                <a:xfrm>
                  <a:off x="7230871" y="6076379"/>
                  <a:ext cx="4531361" cy="3058885"/>
                </a:xfrm>
                <a:prstGeom prst="rect">
                  <a:avLst/>
                </a:prstGeom>
                <a:noFill/>
                <a:extLst>
                  <a:ext uri="{909E8E84-426E-40DD-AFC4-6F175D3DCCD1}">
                    <a14:hiddenFill xmlns:a14="http://schemas.microsoft.com/office/drawing/2010/main">
                      <a:solidFill>
                        <a:srgbClr val="FFFFFF"/>
                      </a:solidFill>
                    </a14:hiddenFill>
                  </a:ext>
                </a:extLst>
              </p:spPr>
            </p:pic>
            <p:sp>
              <p:nvSpPr>
                <p:cNvPr id="60" name="Rectangle 59">
                  <a:extLst>
                    <a:ext uri="{FF2B5EF4-FFF2-40B4-BE49-F238E27FC236}">
                      <a16:creationId xmlns:a16="http://schemas.microsoft.com/office/drawing/2014/main" id="{BC7617FD-54A9-ECE7-AF87-AFCD5CFBED10}"/>
                    </a:ext>
                  </a:extLst>
                </p:cNvPr>
                <p:cNvSpPr/>
                <p:nvPr/>
              </p:nvSpPr>
              <p:spPr>
                <a:xfrm>
                  <a:off x="7227823" y="9108600"/>
                  <a:ext cx="4531360" cy="14724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i="1" dirty="0"/>
                    <a:t>“</a:t>
                  </a:r>
                  <a:r>
                    <a:rPr lang="en-GB" b="1" dirty="0"/>
                    <a:t>It is ‘Lascaux man’ about whom we can surely say, and for the first time that, making works of art, he evidently resembled us, he was one of us, our fellow man.” [5]</a:t>
                  </a:r>
                </a:p>
              </p:txBody>
            </p:sp>
          </p:grpSp>
        </p:grpSp>
      </p:grpSp>
    </p:spTree>
    <p:extLst>
      <p:ext uri="{BB962C8B-B14F-4D97-AF65-F5344CB8AC3E}">
        <p14:creationId xmlns:p14="http://schemas.microsoft.com/office/powerpoint/2010/main" val="152612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1" fill="hold" nodeType="withEffect">
                                  <p:stCondLst>
                                    <p:cond delay="0"/>
                                  </p:stCondLst>
                                  <p:childTnLst>
                                    <p:anim calcmode="lin" valueType="num">
                                      <p:cBhvr additive="base">
                                        <p:cTn id="6" dur="300000"/>
                                        <p:tgtEl>
                                          <p:spTgt spid="1025"/>
                                        </p:tgtEl>
                                        <p:attrNameLst>
                                          <p:attrName>ppt_x</p:attrName>
                                        </p:attrNameLst>
                                      </p:cBhvr>
                                      <p:tavLst>
                                        <p:tav tm="0">
                                          <p:val>
                                            <p:strVal val="ppt_x"/>
                                          </p:val>
                                        </p:tav>
                                        <p:tav tm="100000">
                                          <p:val>
                                            <p:strVal val="ppt_x"/>
                                          </p:val>
                                        </p:tav>
                                      </p:tavLst>
                                    </p:anim>
                                    <p:anim calcmode="lin" valueType="num">
                                      <p:cBhvr additive="base">
                                        <p:cTn id="7" dur="300000"/>
                                        <p:tgtEl>
                                          <p:spTgt spid="1025"/>
                                        </p:tgtEl>
                                        <p:attrNameLst>
                                          <p:attrName>ppt_y</p:attrName>
                                        </p:attrNameLst>
                                      </p:cBhvr>
                                      <p:tavLst>
                                        <p:tav tm="0">
                                          <p:val>
                                            <p:strVal val="ppt_y"/>
                                          </p:val>
                                        </p:tav>
                                        <p:tav tm="100000">
                                          <p:val>
                                            <p:strVal val="0-ppt_h/2"/>
                                          </p:val>
                                        </p:tav>
                                      </p:tavLst>
                                    </p:anim>
                                    <p:set>
                                      <p:cBhvr>
                                        <p:cTn id="8" dur="1" fill="hold">
                                          <p:stCondLst>
                                            <p:cond delay="299999"/>
                                          </p:stCondLst>
                                        </p:cTn>
                                        <p:tgtEl>
                                          <p:spTgt spid="10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A7BA-5D25-60AC-85B6-64A6589B8C0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7F3AF6D-1EAE-4648-8BAC-326E260CD40C}"/>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A109CF60-5694-A21D-2F61-E01CE50A7A1C}"/>
              </a:ext>
            </a:extLst>
          </p:cNvPr>
          <p:cNvSpPr txBox="1">
            <a:spLocks/>
          </p:cNvSpPr>
          <p:nvPr/>
        </p:nvSpPr>
        <p:spPr>
          <a:xfrm>
            <a:off x="5029200" y="1996822"/>
            <a:ext cx="656166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1800" dirty="0">
                <a:solidFill>
                  <a:schemeClr val="tx2"/>
                </a:solidFill>
              </a:rPr>
              <a:t>AI Co-Scientists (AICS) [6] are a continuation of the exosomatization of noesis itself.</a:t>
            </a:r>
          </a:p>
          <a:p>
            <a:pPr algn="just"/>
            <a:endParaRPr lang="en-GB" sz="1800" dirty="0">
              <a:solidFill>
                <a:schemeClr val="tx2"/>
              </a:solidFill>
            </a:endParaRPr>
          </a:p>
          <a:p>
            <a:pPr algn="just"/>
            <a:r>
              <a:rPr lang="en-GB" sz="1800" dirty="0">
                <a:solidFill>
                  <a:schemeClr val="tx2"/>
                </a:solidFill>
              </a:rPr>
              <a:t>The rate of astronomical survey discovery with AICs outpaces the human ability to interpret and codify results.</a:t>
            </a:r>
          </a:p>
          <a:p>
            <a:pPr algn="just"/>
            <a:endParaRPr lang="en-GB" sz="1800" dirty="0">
              <a:solidFill>
                <a:schemeClr val="tx2"/>
              </a:solidFill>
            </a:endParaRPr>
          </a:p>
          <a:p>
            <a:pPr algn="just"/>
            <a:r>
              <a:rPr lang="en-GB" sz="1800" dirty="0">
                <a:solidFill>
                  <a:schemeClr val="tx2"/>
                </a:solidFill>
              </a:rPr>
              <a:t>AICS can be used to generate hypothesis and formulate logical flows for coding pipelines.</a:t>
            </a:r>
          </a:p>
          <a:p>
            <a:pPr algn="just"/>
            <a:endParaRPr lang="en-GB" sz="1800" dirty="0">
              <a:solidFill>
                <a:schemeClr val="tx2"/>
              </a:solidFill>
            </a:endParaRPr>
          </a:p>
          <a:p>
            <a:pPr algn="just"/>
            <a:r>
              <a:rPr lang="en-GB" sz="1800" dirty="0">
                <a:solidFill>
                  <a:schemeClr val="tx2"/>
                </a:solidFill>
              </a:rPr>
              <a:t>AICS can speed up the literature writing and reviewing process, accelerating the dissemination of information.</a:t>
            </a:r>
          </a:p>
          <a:p>
            <a:pPr algn="just"/>
            <a:endParaRPr lang="en-GB" sz="1800" dirty="0">
              <a:solidFill>
                <a:schemeClr val="tx2"/>
              </a:solidFill>
            </a:endParaRPr>
          </a:p>
          <a:p>
            <a:pPr algn="just"/>
            <a:r>
              <a:rPr lang="en-GB" sz="1800" dirty="0">
                <a:solidFill>
                  <a:schemeClr val="tx2"/>
                </a:solidFill>
              </a:rPr>
              <a:t>In this way AICS continue to reorganise scientific discovery.</a:t>
            </a:r>
          </a:p>
        </p:txBody>
      </p:sp>
      <p:sp>
        <p:nvSpPr>
          <p:cNvPr id="7" name="Title 1">
            <a:extLst>
              <a:ext uri="{FF2B5EF4-FFF2-40B4-BE49-F238E27FC236}">
                <a16:creationId xmlns:a16="http://schemas.microsoft.com/office/drawing/2014/main" id="{163658F5-CDBC-6D1D-68EA-C61BF35D0447}"/>
              </a:ext>
            </a:extLst>
          </p:cNvPr>
          <p:cNvSpPr txBox="1">
            <a:spLocks/>
          </p:cNvSpPr>
          <p:nvPr/>
        </p:nvSpPr>
        <p:spPr>
          <a:xfrm>
            <a:off x="5410199" y="509840"/>
            <a:ext cx="6392333" cy="10329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tx2"/>
                </a:solidFill>
              </a:rPr>
              <a:t>The AI Co-Scientist</a:t>
            </a:r>
          </a:p>
        </p:txBody>
      </p:sp>
      <p:pic>
        <p:nvPicPr>
          <p:cNvPr id="54" name="Picture 53">
            <a:extLst>
              <a:ext uri="{FF2B5EF4-FFF2-40B4-BE49-F238E27FC236}">
                <a16:creationId xmlns:a16="http://schemas.microsoft.com/office/drawing/2014/main" id="{CF478C76-5B8F-7A1A-EC6A-DD8E38F77A02}"/>
              </a:ext>
            </a:extLst>
          </p:cNvPr>
          <p:cNvPicPr>
            <a:picLocks noChangeAspect="1"/>
          </p:cNvPicPr>
          <p:nvPr/>
        </p:nvPicPr>
        <p:blipFill>
          <a:blip r:embed="rId3"/>
          <a:srcRect r="4947"/>
          <a:stretch>
            <a:fillRect/>
          </a:stretch>
        </p:blipFill>
        <p:spPr>
          <a:xfrm>
            <a:off x="389468" y="1016368"/>
            <a:ext cx="4419599" cy="4965340"/>
          </a:xfrm>
          <a:prstGeom prst="rect">
            <a:avLst/>
          </a:prstGeom>
        </p:spPr>
      </p:pic>
    </p:spTree>
    <p:extLst>
      <p:ext uri="{BB962C8B-B14F-4D97-AF65-F5344CB8AC3E}">
        <p14:creationId xmlns:p14="http://schemas.microsoft.com/office/powerpoint/2010/main" val="103433522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C388D6D-9439-AC74-5B36-B76CF879CAC7}"/>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63298-5D1B-F06A-0B04-6FA4B955BFA3}"/>
              </a:ext>
            </a:extLst>
          </p:cNvPr>
          <p:cNvSpPr>
            <a:spLocks noGrp="1"/>
          </p:cNvSpPr>
          <p:nvPr>
            <p:ph type="title"/>
          </p:nvPr>
        </p:nvSpPr>
        <p:spPr>
          <a:xfrm>
            <a:off x="838200" y="509840"/>
            <a:ext cx="10515600" cy="1032934"/>
          </a:xfrm>
        </p:spPr>
        <p:txBody>
          <a:bodyPr/>
          <a:lstStyle/>
          <a:p>
            <a:r>
              <a:rPr lang="en-US" b="1" dirty="0">
                <a:solidFill>
                  <a:schemeClr val="tx2"/>
                </a:solidFill>
              </a:rPr>
              <a:t>Collective Knowledge &amp; Entropy</a:t>
            </a:r>
          </a:p>
        </p:txBody>
      </p:sp>
      <p:sp>
        <p:nvSpPr>
          <p:cNvPr id="3" name="Content Placeholder 2">
            <a:extLst>
              <a:ext uri="{FF2B5EF4-FFF2-40B4-BE49-F238E27FC236}">
                <a16:creationId xmlns:a16="http://schemas.microsoft.com/office/drawing/2014/main" id="{4D86AD23-B574-7012-C4E3-10D92E4DDF9B}"/>
              </a:ext>
            </a:extLst>
          </p:cNvPr>
          <p:cNvSpPr>
            <a:spLocks noGrp="1"/>
          </p:cNvSpPr>
          <p:nvPr>
            <p:ph idx="1"/>
          </p:nvPr>
        </p:nvSpPr>
        <p:spPr>
          <a:xfrm>
            <a:off x="838200" y="1996822"/>
            <a:ext cx="5579225" cy="4351338"/>
          </a:xfrm>
        </p:spPr>
        <p:txBody>
          <a:bodyPr>
            <a:normAutofit lnSpcReduction="10000"/>
          </a:bodyPr>
          <a:lstStyle/>
          <a:p>
            <a:pPr algn="just"/>
            <a:r>
              <a:rPr lang="en-GB" sz="1800" i="0" dirty="0">
                <a:solidFill>
                  <a:schemeClr val="tx2"/>
                </a:solidFill>
                <a:effectLst/>
              </a:rPr>
              <a:t>Collective knowledge is created when information can be transmitted, interpreted, and contested over a long period of time. </a:t>
            </a:r>
          </a:p>
          <a:p>
            <a:pPr algn="just"/>
            <a:endParaRPr lang="en-GB" sz="1800" dirty="0">
              <a:solidFill>
                <a:schemeClr val="tx2"/>
              </a:solidFill>
            </a:endParaRPr>
          </a:p>
          <a:p>
            <a:pPr algn="just"/>
            <a:r>
              <a:rPr lang="en-GB" sz="1800" i="0" dirty="0">
                <a:solidFill>
                  <a:schemeClr val="tx2"/>
                </a:solidFill>
                <a:effectLst/>
              </a:rPr>
              <a:t>Entropy is used to describe the destruction or loss of the ability to produce collective knowledge; the breakdown of coherent thought, and the acceleration of disorder in systems of cognition, culture or economy. </a:t>
            </a:r>
          </a:p>
          <a:p>
            <a:pPr algn="just"/>
            <a:endParaRPr lang="en-GB" sz="1800" dirty="0">
              <a:solidFill>
                <a:schemeClr val="tx2"/>
              </a:solidFill>
            </a:endParaRPr>
          </a:p>
          <a:p>
            <a:pPr algn="just"/>
            <a:r>
              <a:rPr lang="en-GB" sz="1800" i="0" dirty="0">
                <a:solidFill>
                  <a:schemeClr val="tx2"/>
                </a:solidFill>
                <a:effectLst/>
              </a:rPr>
              <a:t>This can happen when the human production of individual or collective knowledge is replaced by its artificial support - or an artificial intelligence - such that astronomers lose their interpretive agency, and can no longer participate in the production of knowledge themselves [7].</a:t>
            </a:r>
            <a:endParaRPr lang="en-US" sz="1800" dirty="0">
              <a:solidFill>
                <a:schemeClr val="tx2"/>
              </a:solidFill>
            </a:endParaRPr>
          </a:p>
        </p:txBody>
      </p:sp>
      <p:pic>
        <p:nvPicPr>
          <p:cNvPr id="8" name="Picture 7">
            <a:extLst>
              <a:ext uri="{FF2B5EF4-FFF2-40B4-BE49-F238E27FC236}">
                <a16:creationId xmlns:a16="http://schemas.microsoft.com/office/drawing/2014/main" id="{FC5A0A2C-C9CD-37ED-2F4B-3DF7919170EB}"/>
              </a:ext>
            </a:extLst>
          </p:cNvPr>
          <p:cNvPicPr>
            <a:picLocks noChangeAspect="1"/>
          </p:cNvPicPr>
          <p:nvPr/>
        </p:nvPicPr>
        <p:blipFill>
          <a:blip r:embed="rId3"/>
          <a:stretch>
            <a:fillRect/>
          </a:stretch>
        </p:blipFill>
        <p:spPr>
          <a:xfrm>
            <a:off x="6883400" y="1996822"/>
            <a:ext cx="4470400" cy="4152900"/>
          </a:xfrm>
          <a:prstGeom prst="rect">
            <a:avLst/>
          </a:prstGeom>
        </p:spPr>
      </p:pic>
      <p:pic>
        <p:nvPicPr>
          <p:cNvPr id="9" name="Picture 8">
            <a:extLst>
              <a:ext uri="{FF2B5EF4-FFF2-40B4-BE49-F238E27FC236}">
                <a16:creationId xmlns:a16="http://schemas.microsoft.com/office/drawing/2014/main" id="{F25D9648-941D-5F45-D86B-176E8DA6C749}"/>
              </a:ext>
            </a:extLst>
          </p:cNvPr>
          <p:cNvPicPr>
            <a:picLocks noChangeAspect="1"/>
          </p:cNvPicPr>
          <p:nvPr/>
        </p:nvPicPr>
        <p:blipFill>
          <a:blip r:embed="rId4"/>
          <a:stretch>
            <a:fillRect/>
          </a:stretch>
        </p:blipFill>
        <p:spPr>
          <a:xfrm>
            <a:off x="6883401" y="1996822"/>
            <a:ext cx="4470399" cy="4207434"/>
          </a:xfrm>
          <a:prstGeom prst="rect">
            <a:avLst/>
          </a:prstGeom>
        </p:spPr>
      </p:pic>
    </p:spTree>
    <p:extLst>
      <p:ext uri="{BB962C8B-B14F-4D97-AF65-F5344CB8AC3E}">
        <p14:creationId xmlns:p14="http://schemas.microsoft.com/office/powerpoint/2010/main" val="115183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repeatCount="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7F9D30B-8DF6-3BDF-7DB8-CD67C6E636DB}"/>
              </a:ext>
            </a:extLst>
          </p:cNvPr>
          <p:cNvSpPr/>
          <p:nvPr/>
        </p:nvSpPr>
        <p:spPr>
          <a:xfrm>
            <a:off x="6695442" y="2153979"/>
            <a:ext cx="4655127" cy="348205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7E61C9-6046-3CE0-BD04-4F3EA7F22122}"/>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2A28E-0395-1257-827D-DEC0AA7EE2CF}"/>
              </a:ext>
            </a:extLst>
          </p:cNvPr>
          <p:cNvSpPr>
            <a:spLocks noGrp="1"/>
          </p:cNvSpPr>
          <p:nvPr>
            <p:ph type="title"/>
          </p:nvPr>
        </p:nvSpPr>
        <p:spPr>
          <a:xfrm>
            <a:off x="838200" y="509840"/>
            <a:ext cx="10515600" cy="1032934"/>
          </a:xfrm>
        </p:spPr>
        <p:txBody>
          <a:bodyPr/>
          <a:lstStyle/>
          <a:p>
            <a:r>
              <a:rPr lang="en-US" b="1" dirty="0">
                <a:solidFill>
                  <a:schemeClr val="tx2"/>
                </a:solidFill>
              </a:rPr>
              <a:t>Negentropy in Astronomy</a:t>
            </a:r>
          </a:p>
        </p:txBody>
      </p:sp>
      <p:sp>
        <p:nvSpPr>
          <p:cNvPr id="3" name="Content Placeholder 2">
            <a:extLst>
              <a:ext uri="{FF2B5EF4-FFF2-40B4-BE49-F238E27FC236}">
                <a16:creationId xmlns:a16="http://schemas.microsoft.com/office/drawing/2014/main" id="{AAE16F45-5786-864F-3483-DDC732DCBB1A}"/>
              </a:ext>
            </a:extLst>
          </p:cNvPr>
          <p:cNvSpPr>
            <a:spLocks noGrp="1"/>
          </p:cNvSpPr>
          <p:nvPr>
            <p:ph idx="1"/>
          </p:nvPr>
        </p:nvSpPr>
        <p:spPr>
          <a:xfrm>
            <a:off x="838200" y="2336859"/>
            <a:ext cx="4947458" cy="4026098"/>
          </a:xfrm>
        </p:spPr>
        <p:txBody>
          <a:bodyPr>
            <a:normAutofit/>
          </a:bodyPr>
          <a:lstStyle/>
          <a:p>
            <a:pPr algn="just"/>
            <a:r>
              <a:rPr lang="en-US" sz="2200" dirty="0">
                <a:solidFill>
                  <a:schemeClr val="tx2"/>
                </a:solidFill>
              </a:rPr>
              <a:t>Full automisation isn’t possible in astronomy owing to the need for noesis. Likewise, full disautomisation is not possible – nor necessary.</a:t>
            </a:r>
          </a:p>
          <a:p>
            <a:pPr algn="just"/>
            <a:endParaRPr lang="en-US" sz="2200" dirty="0">
              <a:solidFill>
                <a:schemeClr val="tx2"/>
              </a:solidFill>
            </a:endParaRPr>
          </a:p>
          <a:p>
            <a:pPr algn="just"/>
            <a:r>
              <a:rPr lang="en-US" sz="2200" dirty="0">
                <a:solidFill>
                  <a:schemeClr val="tx2"/>
                </a:solidFill>
              </a:rPr>
              <a:t>Astronomers should develop ML technics with a negentropic mindset that seeks to increase the sharing of collective knowledge rather than reducing it [3].</a:t>
            </a:r>
          </a:p>
        </p:txBody>
      </p:sp>
      <p:sp>
        <p:nvSpPr>
          <p:cNvPr id="6" name="TextBox 5">
            <a:extLst>
              <a:ext uri="{FF2B5EF4-FFF2-40B4-BE49-F238E27FC236}">
                <a16:creationId xmlns:a16="http://schemas.microsoft.com/office/drawing/2014/main" id="{3548DF15-EA0D-AC8F-2E60-223BFA7471BF}"/>
              </a:ext>
            </a:extLst>
          </p:cNvPr>
          <p:cNvSpPr txBox="1"/>
          <p:nvPr/>
        </p:nvSpPr>
        <p:spPr>
          <a:xfrm>
            <a:off x="6857080" y="2336859"/>
            <a:ext cx="4318000" cy="3139321"/>
          </a:xfrm>
          <a:prstGeom prst="rect">
            <a:avLst/>
          </a:prstGeom>
          <a:solidFill>
            <a:schemeClr val="accent2">
              <a:lumMod val="20000"/>
              <a:lumOff val="80000"/>
            </a:schemeClr>
          </a:solidFill>
          <a:ln>
            <a:solidFill>
              <a:schemeClr val="accent2"/>
            </a:solidFill>
          </a:ln>
        </p:spPr>
        <p:txBody>
          <a:bodyPr wrap="square">
            <a:spAutoFit/>
          </a:bodyPr>
          <a:lstStyle/>
          <a:p>
            <a:r>
              <a:rPr lang="en-GB" sz="1800" i="1" dirty="0">
                <a:solidFill>
                  <a:schemeClr val="tx2"/>
                </a:solidFill>
              </a:rPr>
              <a:t>“Ultimately understanding the connected cosmos through that “formalized curiosity” . . . requires more than big new machines. </a:t>
            </a:r>
            <a:r>
              <a:rPr lang="en-GB" sz="1800" b="1" i="1" dirty="0">
                <a:solidFill>
                  <a:schemeClr val="tx2"/>
                </a:solidFill>
              </a:rPr>
              <a:t>It requires people to translate observations into discoveries</a:t>
            </a:r>
            <a:r>
              <a:rPr lang="en-GB" sz="1800" i="1" dirty="0">
                <a:solidFill>
                  <a:schemeClr val="tx2"/>
                </a:solidFill>
              </a:rPr>
              <a:t>, theoretical studies to connect the observational clues, experiments in the laboratory and with the computer to interpret the data and the theory, and digital libraries of these precious data that meet the needs for the 21st century.”</a:t>
            </a:r>
            <a:endParaRPr lang="en-US" sz="1800" i="1" dirty="0">
              <a:solidFill>
                <a:schemeClr val="tx2"/>
              </a:solidFill>
            </a:endParaRPr>
          </a:p>
        </p:txBody>
      </p:sp>
    </p:spTree>
    <p:extLst>
      <p:ext uri="{BB962C8B-B14F-4D97-AF65-F5344CB8AC3E}">
        <p14:creationId xmlns:p14="http://schemas.microsoft.com/office/powerpoint/2010/main" val="198468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9201BE-9A54-3408-2A82-9357EF286155}"/>
              </a:ext>
            </a:extLst>
          </p:cNvPr>
          <p:cNvSpPr/>
          <p:nvPr/>
        </p:nvSpPr>
        <p:spPr>
          <a:xfrm>
            <a:off x="0" y="509840"/>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F6F286-E987-7A5F-6707-B07A433A00CE}"/>
              </a:ext>
            </a:extLst>
          </p:cNvPr>
          <p:cNvSpPr>
            <a:spLocks noGrp="1"/>
          </p:cNvSpPr>
          <p:nvPr>
            <p:ph type="title"/>
          </p:nvPr>
        </p:nvSpPr>
        <p:spPr>
          <a:xfrm>
            <a:off x="838200" y="509840"/>
            <a:ext cx="10515600" cy="1032934"/>
          </a:xfrm>
        </p:spPr>
        <p:txBody>
          <a:bodyPr/>
          <a:lstStyle/>
          <a:p>
            <a:r>
              <a:rPr lang="en-US" b="1" dirty="0">
                <a:solidFill>
                  <a:schemeClr val="tx2"/>
                </a:solidFill>
              </a:rPr>
              <a:t>Thank you!</a:t>
            </a:r>
          </a:p>
        </p:txBody>
      </p:sp>
      <p:sp>
        <p:nvSpPr>
          <p:cNvPr id="3" name="Content Placeholder 2">
            <a:extLst>
              <a:ext uri="{FF2B5EF4-FFF2-40B4-BE49-F238E27FC236}">
                <a16:creationId xmlns:a16="http://schemas.microsoft.com/office/drawing/2014/main" id="{2CFB9042-0F6D-CFEB-5F11-3D85B7C1DC5D}"/>
              </a:ext>
            </a:extLst>
          </p:cNvPr>
          <p:cNvSpPr>
            <a:spLocks noGrp="1"/>
          </p:cNvSpPr>
          <p:nvPr>
            <p:ph idx="1"/>
          </p:nvPr>
        </p:nvSpPr>
        <p:spPr>
          <a:xfrm>
            <a:off x="301643" y="1641688"/>
            <a:ext cx="8300489" cy="4091090"/>
          </a:xfrm>
        </p:spPr>
        <p:txBody>
          <a:bodyPr>
            <a:normAutofit fontScale="55000" lnSpcReduction="20000"/>
          </a:bodyPr>
          <a:lstStyle/>
          <a:p>
            <a:pPr>
              <a:lnSpc>
                <a:spcPct val="120000"/>
              </a:lnSpc>
            </a:pPr>
            <a:r>
              <a:rPr lang="en-GB" b="1" dirty="0"/>
              <a:t>[1] - </a:t>
            </a:r>
            <a:r>
              <a:rPr lang="en-GB" dirty="0"/>
              <a:t>Rodriguez, J.-V., Rodríguez-Rodríguez, I. &amp; Woo, W.L. (2022) ‘On the application of machine learning in astronomy and astrophysics’, WIREs Data Mining and Knowledge Discovery, 12(5), e1476. doi:10.1002/widm.1476.</a:t>
            </a:r>
          </a:p>
          <a:p>
            <a:pPr>
              <a:lnSpc>
                <a:spcPct val="120000"/>
              </a:lnSpc>
            </a:pPr>
            <a:r>
              <a:rPr lang="en-GB" b="1" dirty="0"/>
              <a:t>[2] - </a:t>
            </a:r>
            <a:r>
              <a:rPr lang="en-GB" dirty="0"/>
              <a:t>National Academies of Sciences, Engineering, and Medicine, 2021. </a:t>
            </a:r>
            <a:r>
              <a:rPr lang="en-GB" i="1" dirty="0"/>
              <a:t>Pathways to Discovery in Astronomy and Astrophysics for the 2020s</a:t>
            </a:r>
            <a:r>
              <a:rPr lang="en-GB" dirty="0"/>
              <a:t>. Washington, DC: The National Academies Press</a:t>
            </a:r>
          </a:p>
          <a:p>
            <a:pPr>
              <a:lnSpc>
                <a:spcPct val="120000"/>
              </a:lnSpc>
            </a:pPr>
            <a:r>
              <a:rPr lang="en-GB" b="1" dirty="0"/>
              <a:t>[3] - </a:t>
            </a:r>
            <a:r>
              <a:rPr lang="en-GB" dirty="0"/>
              <a:t>Stiegler, B. (2018) Artificial stupidity and artificial intelligence in the Anthropocene. Lecture, Instituto de </a:t>
            </a:r>
            <a:r>
              <a:rPr lang="en-GB" dirty="0" err="1"/>
              <a:t>Ereignis</a:t>
            </a:r>
            <a:r>
              <a:rPr lang="en-GB" dirty="0"/>
              <a:t>, Shanghai.</a:t>
            </a:r>
          </a:p>
          <a:p>
            <a:pPr>
              <a:lnSpc>
                <a:spcPct val="120000"/>
              </a:lnSpc>
            </a:pPr>
            <a:r>
              <a:rPr lang="en-GB" b="1" dirty="0"/>
              <a:t>[4] - </a:t>
            </a:r>
            <a:r>
              <a:rPr lang="en-GB" dirty="0"/>
              <a:t>Third letter on sunspots (December 1612) to Mark Wesler (1558 - 1614), as quoted in </a:t>
            </a:r>
            <a:r>
              <a:rPr lang="en-GB" i="1" dirty="0"/>
              <a:t>Discoveries and Opinions of Galileo</a:t>
            </a:r>
            <a:r>
              <a:rPr lang="en-GB" dirty="0"/>
              <a:t> (1957) by Stillman Drake, p. 134 – 135</a:t>
            </a:r>
          </a:p>
          <a:p>
            <a:pPr>
              <a:lnSpc>
                <a:spcPct val="120000"/>
              </a:lnSpc>
            </a:pPr>
            <a:r>
              <a:rPr lang="en-GB" b="1" dirty="0"/>
              <a:t>[5] </a:t>
            </a:r>
            <a:r>
              <a:rPr lang="en-GB" dirty="0"/>
              <a:t>- Bataille, G. (1980) </a:t>
            </a:r>
            <a:r>
              <a:rPr lang="en-GB" i="1" dirty="0"/>
              <a:t>Prehistoric painting: Lascaux, or, the birth of art</a:t>
            </a:r>
            <a:r>
              <a:rPr lang="en-GB" dirty="0"/>
              <a:t>. Geneva; London: Skira ; Macmillan.</a:t>
            </a:r>
          </a:p>
          <a:p>
            <a:pPr>
              <a:lnSpc>
                <a:spcPct val="120000"/>
              </a:lnSpc>
            </a:pPr>
            <a:r>
              <a:rPr lang="en-GB" b="1" dirty="0"/>
              <a:t>[6] </a:t>
            </a:r>
            <a:r>
              <a:rPr lang="en-GB" dirty="0"/>
              <a:t>- </a:t>
            </a:r>
            <a:r>
              <a:rPr lang="en-GB" i="0" dirty="0" err="1">
                <a:effectLst/>
              </a:rPr>
              <a:t>Gottweis</a:t>
            </a:r>
            <a:r>
              <a:rPr lang="en-GB" i="0" dirty="0">
                <a:effectLst/>
              </a:rPr>
              <a:t>, J. et al. (2025) Towards an AI co-scientist. arXiv:2502.18864.</a:t>
            </a:r>
          </a:p>
          <a:p>
            <a:pPr>
              <a:lnSpc>
                <a:spcPct val="120000"/>
              </a:lnSpc>
            </a:pPr>
            <a:r>
              <a:rPr lang="en-GB" b="1" dirty="0"/>
              <a:t>[7] </a:t>
            </a:r>
            <a:r>
              <a:rPr lang="en-GB" dirty="0"/>
              <a:t> - </a:t>
            </a:r>
            <a:r>
              <a:rPr lang="en-GB" i="0" dirty="0">
                <a:effectLst/>
              </a:rPr>
              <a:t>Bishop, R. &amp; Ross, D. (2021) ‘Technics, time and the </a:t>
            </a:r>
            <a:r>
              <a:rPr lang="en-GB" i="0" dirty="0" err="1">
                <a:effectLst/>
              </a:rPr>
              <a:t>internotion</a:t>
            </a:r>
            <a:r>
              <a:rPr lang="en-GB" i="0" dirty="0">
                <a:effectLst/>
              </a:rPr>
              <a:t>: Bernard Stiegler’s thought – a dialogue with Daniel Ross’, Theory, Culture &amp; Society, 38(4), pp. 111–133. </a:t>
            </a:r>
            <a:endParaRPr lang="en-GB" dirty="0"/>
          </a:p>
          <a:p>
            <a:pPr>
              <a:lnSpc>
                <a:spcPct val="120000"/>
              </a:lnSpc>
            </a:pPr>
            <a:endParaRPr lang="en-GB" dirty="0"/>
          </a:p>
        </p:txBody>
      </p:sp>
      <p:sp>
        <p:nvSpPr>
          <p:cNvPr id="10" name="Rectangle 9">
            <a:extLst>
              <a:ext uri="{FF2B5EF4-FFF2-40B4-BE49-F238E27FC236}">
                <a16:creationId xmlns:a16="http://schemas.microsoft.com/office/drawing/2014/main" id="{3C97EE52-8398-E1C5-2874-354F0EF847EA}"/>
              </a:ext>
            </a:extLst>
          </p:cNvPr>
          <p:cNvSpPr/>
          <p:nvPr/>
        </p:nvSpPr>
        <p:spPr>
          <a:xfrm>
            <a:off x="0" y="5831693"/>
            <a:ext cx="12192000" cy="10329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95603998-4C9B-06B2-F82A-A81244833DA2}"/>
              </a:ext>
            </a:extLst>
          </p:cNvPr>
          <p:cNvSpPr txBox="1">
            <a:spLocks/>
          </p:cNvSpPr>
          <p:nvPr/>
        </p:nvSpPr>
        <p:spPr>
          <a:xfrm>
            <a:off x="668867" y="6023373"/>
            <a:ext cx="2933007" cy="6463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tx2"/>
                </a:solidFill>
              </a:rPr>
              <a:t>Contact:</a:t>
            </a:r>
          </a:p>
        </p:txBody>
      </p:sp>
      <p:grpSp>
        <p:nvGrpSpPr>
          <p:cNvPr id="15" name="Group 14">
            <a:extLst>
              <a:ext uri="{FF2B5EF4-FFF2-40B4-BE49-F238E27FC236}">
                <a16:creationId xmlns:a16="http://schemas.microsoft.com/office/drawing/2014/main" id="{1CAE420C-7026-4C82-3399-B1D7FED58EDC}"/>
              </a:ext>
            </a:extLst>
          </p:cNvPr>
          <p:cNvGrpSpPr/>
          <p:nvPr/>
        </p:nvGrpSpPr>
        <p:grpSpPr>
          <a:xfrm>
            <a:off x="9156931" y="2031655"/>
            <a:ext cx="2603269" cy="3311155"/>
            <a:chOff x="7980064" y="2333525"/>
            <a:chExt cx="1612669" cy="2051189"/>
          </a:xfrm>
        </p:grpSpPr>
        <p:sp>
          <p:nvSpPr>
            <p:cNvPr id="8" name="Rectangle 7">
              <a:extLst>
                <a:ext uri="{FF2B5EF4-FFF2-40B4-BE49-F238E27FC236}">
                  <a16:creationId xmlns:a16="http://schemas.microsoft.com/office/drawing/2014/main" id="{88E5434A-B86F-A9C3-25E2-8C2AF9AB5F48}"/>
                </a:ext>
              </a:extLst>
            </p:cNvPr>
            <p:cNvSpPr/>
            <p:nvPr/>
          </p:nvSpPr>
          <p:spPr>
            <a:xfrm>
              <a:off x="7980064" y="2333525"/>
              <a:ext cx="1612669" cy="16126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A014639-9086-50A1-C236-75BAB74AAA13}"/>
                </a:ext>
              </a:extLst>
            </p:cNvPr>
            <p:cNvSpPr txBox="1"/>
            <p:nvPr/>
          </p:nvSpPr>
          <p:spPr>
            <a:xfrm>
              <a:off x="7980064" y="3946194"/>
              <a:ext cx="1612669" cy="438520"/>
            </a:xfrm>
            <a:prstGeom prst="rect">
              <a:avLst/>
            </a:prstGeom>
            <a:noFill/>
          </p:spPr>
          <p:txBody>
            <a:bodyPr wrap="square" rtlCol="0">
              <a:spAutoFit/>
            </a:bodyPr>
            <a:lstStyle/>
            <a:p>
              <a:pPr algn="ctr"/>
              <a:r>
                <a:rPr lang="en-US" sz="2000" b="1" dirty="0"/>
                <a:t>LINAS PGR</a:t>
              </a:r>
            </a:p>
            <a:p>
              <a:pPr algn="ctr"/>
              <a:r>
                <a:rPr lang="en-US" sz="2000" b="1" dirty="0"/>
                <a:t>Conference</a:t>
              </a:r>
            </a:p>
          </p:txBody>
        </p:sp>
        <p:pic>
          <p:nvPicPr>
            <p:cNvPr id="6146" name="Picture 2" descr="QR Code Image">
              <a:extLst>
                <a:ext uri="{FF2B5EF4-FFF2-40B4-BE49-F238E27FC236}">
                  <a16:creationId xmlns:a16="http://schemas.microsoft.com/office/drawing/2014/main" id="{5EB7C473-F3A5-A0A9-D1F4-0017CC4BA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064" y="2333525"/>
              <a:ext cx="1612669" cy="1612669"/>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E3970CFA-B1DA-88A8-9D0E-6F2048377D95}"/>
              </a:ext>
            </a:extLst>
          </p:cNvPr>
          <p:cNvSpPr txBox="1"/>
          <p:nvPr/>
        </p:nvSpPr>
        <p:spPr>
          <a:xfrm>
            <a:off x="2135370" y="6161872"/>
            <a:ext cx="2470245" cy="369332"/>
          </a:xfrm>
          <a:prstGeom prst="rect">
            <a:avLst/>
          </a:prstGeom>
          <a:noFill/>
        </p:spPr>
        <p:txBody>
          <a:bodyPr wrap="square" rtlCol="0">
            <a:spAutoFit/>
          </a:bodyPr>
          <a:lstStyle/>
          <a:p>
            <a:r>
              <a:rPr lang="en-US" dirty="0"/>
              <a:t>jweston04@qub.ac.uk</a:t>
            </a:r>
          </a:p>
        </p:txBody>
      </p:sp>
    </p:spTree>
    <p:extLst>
      <p:ext uri="{BB962C8B-B14F-4D97-AF65-F5344CB8AC3E}">
        <p14:creationId xmlns:p14="http://schemas.microsoft.com/office/powerpoint/2010/main" val="2710985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1945</TotalTime>
  <Words>1238</Words>
  <Application>Microsoft Macintosh PowerPoint</Application>
  <PresentationFormat>Widescreen</PresentationFormat>
  <Paragraphs>68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Knowledge Production in the Age of AI Astronomy, Noesis &amp; The AI Co-Scientist </vt:lpstr>
      <vt:lpstr>AI &amp; Machine Learning in Astronomy</vt:lpstr>
      <vt:lpstr>Exosomatization &amp; Noesis</vt:lpstr>
      <vt:lpstr>PowerPoint Presentation</vt:lpstr>
      <vt:lpstr>Collective Knowledge &amp; Entropy</vt:lpstr>
      <vt:lpstr>Negentropy in Astronomy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Weston</dc:creator>
  <cp:lastModifiedBy>Joshua Weston</cp:lastModifiedBy>
  <cp:revision>5</cp:revision>
  <dcterms:created xsi:type="dcterms:W3CDTF">2026-01-10T14:07:30Z</dcterms:created>
  <dcterms:modified xsi:type="dcterms:W3CDTF">2026-01-11T22:32:35Z</dcterms:modified>
</cp:coreProperties>
</file>